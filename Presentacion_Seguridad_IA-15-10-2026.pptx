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media/image14.jpeg" ContentType="image/jpeg"/>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p:spPr>
        <p:txBody>
          <a:bodyPr lIns="0" rIns="0" tIns="0" bIns="0" anchor="ctr">
            <a:noAutofit/>
          </a:bodyPr>
          <a:p>
            <a:pPr algn="ctr"/>
            <a:r>
              <a:rPr b="0" lang="es-ES" sz="4400" spc="-1" strike="noStrike">
                <a:latin typeface="Arial"/>
              </a:rPr>
              <a:t>Pulse para desplazar la diapositiva</a:t>
            </a:r>
            <a:endParaRPr b="0" lang="es-ES"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p:spPr>
        <p:txBody>
          <a:bodyPr lIns="0" rIns="0" tIns="0" bIns="0">
            <a:noAutofit/>
          </a:bodyPr>
          <a:p>
            <a:r>
              <a:rPr b="0" lang="es-ES" sz="2000" spc="-1" strike="noStrike">
                <a:latin typeface="Arial"/>
              </a:rPr>
              <a:t>Pulse para editar el formato de las notas</a:t>
            </a:r>
            <a:endParaRPr b="0" lang="es-ES" sz="2000" spc="-1" strike="noStrike">
              <a:latin typeface="Arial"/>
            </a:endParaRPr>
          </a:p>
        </p:txBody>
      </p:sp>
      <p:sp>
        <p:nvSpPr>
          <p:cNvPr id="40" name="PlaceHolder 3"/>
          <p:cNvSpPr>
            <a:spLocks noGrp="1"/>
          </p:cNvSpPr>
          <p:nvPr>
            <p:ph type="hdr"/>
          </p:nvPr>
        </p:nvSpPr>
        <p:spPr>
          <a:xfrm>
            <a:off x="0" y="0"/>
            <a:ext cx="3280680" cy="534240"/>
          </a:xfrm>
          <a:prstGeom prst="rect">
            <a:avLst/>
          </a:prstGeom>
        </p:spPr>
        <p:txBody>
          <a:bodyPr lIns="0" rIns="0" tIns="0" bIns="0">
            <a:noAutofit/>
          </a:bodyPr>
          <a:p>
            <a:r>
              <a:rPr b="0" lang="es-ES" sz="1400" spc="-1" strike="noStrike">
                <a:latin typeface="Times New Roman"/>
              </a:rPr>
              <a:t>&lt;cabecera&gt;</a:t>
            </a:r>
            <a:endParaRPr b="0" lang="es-ES" sz="1400" spc="-1" strike="noStrike">
              <a:latin typeface="Times New Roman"/>
            </a:endParaRPr>
          </a:p>
        </p:txBody>
      </p:sp>
      <p:sp>
        <p:nvSpPr>
          <p:cNvPr id="41" name="PlaceHolder 4"/>
          <p:cNvSpPr>
            <a:spLocks noGrp="1"/>
          </p:cNvSpPr>
          <p:nvPr>
            <p:ph type="dt"/>
          </p:nvPr>
        </p:nvSpPr>
        <p:spPr>
          <a:xfrm>
            <a:off x="4278960" y="0"/>
            <a:ext cx="3280680" cy="534240"/>
          </a:xfrm>
          <a:prstGeom prst="rect">
            <a:avLst/>
          </a:prstGeom>
        </p:spPr>
        <p:txBody>
          <a:bodyPr lIns="0" rIns="0" tIns="0" bIns="0">
            <a:noAutofit/>
          </a:bodyPr>
          <a:p>
            <a:pPr algn="r"/>
            <a:r>
              <a:rPr b="0" lang="es-ES" sz="1400" spc="-1" strike="noStrike">
                <a:latin typeface="Times New Roman"/>
              </a:rPr>
              <a:t>&lt;fecha/hora&gt;</a:t>
            </a:r>
            <a:endParaRPr b="0" lang="es-ES" sz="1400" spc="-1" strike="noStrike">
              <a:latin typeface="Times New Roman"/>
            </a:endParaRPr>
          </a:p>
        </p:txBody>
      </p:sp>
      <p:sp>
        <p:nvSpPr>
          <p:cNvPr id="42" name="PlaceHolder 5"/>
          <p:cNvSpPr>
            <a:spLocks noGrp="1"/>
          </p:cNvSpPr>
          <p:nvPr>
            <p:ph type="ftr"/>
          </p:nvPr>
        </p:nvSpPr>
        <p:spPr>
          <a:xfrm>
            <a:off x="0" y="10157400"/>
            <a:ext cx="3280680" cy="534240"/>
          </a:xfrm>
          <a:prstGeom prst="rect">
            <a:avLst/>
          </a:prstGeom>
        </p:spPr>
        <p:txBody>
          <a:bodyPr lIns="0" rIns="0" tIns="0" bIns="0" anchor="b">
            <a:noAutofit/>
          </a:bodyPr>
          <a:p>
            <a:r>
              <a:rPr b="0" lang="es-ES" sz="1400" spc="-1" strike="noStrike">
                <a:latin typeface="Times New Roman"/>
              </a:rPr>
              <a:t>&lt;pie de página&gt;</a:t>
            </a:r>
            <a:endParaRPr b="0" lang="es-ES" sz="1400" spc="-1" strike="noStrike">
              <a:latin typeface="Times New Roman"/>
            </a:endParaRPr>
          </a:p>
        </p:txBody>
      </p:sp>
      <p:sp>
        <p:nvSpPr>
          <p:cNvPr id="43"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0A655A5D-462D-4225-B47B-D91DFC5D3986}" type="slidenum">
              <a:rPr b="0" lang="es-ES" sz="1400" spc="-1" strike="noStrike">
                <a:latin typeface="Times New Roman"/>
              </a:rPr>
              <a:t>&lt;número&gt;</a:t>
            </a:fld>
            <a:endParaRPr b="0" lang="es-E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 Target="../slides/slide3.xml"/><Relationship Id="rId3"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216000" y="812520"/>
            <a:ext cx="7126560" cy="4008240"/>
          </a:xfrm>
          <a:prstGeom prst="rect">
            <a:avLst/>
          </a:prstGeom>
        </p:spPr>
      </p:sp>
      <p:sp>
        <p:nvSpPr>
          <p:cNvPr id="91" name="PlaceHolder 2"/>
          <p:cNvSpPr>
            <a:spLocks noGrp="1"/>
          </p:cNvSpPr>
          <p:nvPr>
            <p:ph type="body"/>
          </p:nvPr>
        </p:nvSpPr>
        <p:spPr>
          <a:xfrm>
            <a:off x="756000" y="5078520"/>
            <a:ext cx="6046920" cy="4810320"/>
          </a:xfrm>
          <a:prstGeom prst="rect">
            <a:avLst/>
          </a:prstGeom>
        </p:spPr>
        <p:txBody>
          <a:bodyPr lIns="0" rIns="0" tIns="0" bIns="0">
            <a:noAutofit/>
          </a:bodyPr>
          <a:p>
            <a:pPr marL="216000" indent="-215640">
              <a:lnSpc>
                <a:spcPct val="100000"/>
              </a:lnSpc>
              <a:tabLst>
                <a:tab algn="l" pos="0"/>
              </a:tabLst>
            </a:pPr>
            <a:r>
              <a:rPr b="0" lang="es-ES" sz="1600" spc="-1" strike="noStrike">
                <a:latin typeface="Google Sans;Arial"/>
              </a:rPr>
              <a:t>Hoy vamos a hablar de un tema que está transformando nuestra forma de trabajar: la Inteligencia Artificial en el desarrollo de software. Herramientas como GitHub Copilot o ChatGPT nos hacen exponencialmente más rápidos. Sin embargo, escribir código rápido no siempre significa escribir código seguro. En los próximos 45 minutos, analizaremos qué riesgos ocultos trae este código, cómo proteger la privacidad de nuestra empresa y qué pruebas automatizadas debemos ejecutar sí o sí antes de subir este software a producción.</a:t>
            </a:r>
            <a:endParaRPr b="0" lang="es-ES" sz="1600" spc="-1" strike="noStrike">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216000" y="812520"/>
            <a:ext cx="7126560" cy="4008240"/>
          </a:xfrm>
          <a:prstGeom prst="rect">
            <a:avLst/>
          </a:prstGeom>
        </p:spPr>
      </p:sp>
      <p:sp>
        <p:nvSpPr>
          <p:cNvPr id="93" name="PlaceHolder 2"/>
          <p:cNvSpPr>
            <a:spLocks noGrp="1"/>
          </p:cNvSpPr>
          <p:nvPr>
            <p:ph type="body"/>
          </p:nvPr>
        </p:nvSpPr>
        <p:spPr>
          <a:xfrm>
            <a:off x="756000" y="5078520"/>
            <a:ext cx="6046920" cy="4810320"/>
          </a:xfrm>
          <a:prstGeom prst="rect">
            <a:avLst/>
          </a:prstGeom>
        </p:spPr>
        <p:txBody>
          <a:bodyPr lIns="0" rIns="0" tIns="0" bIns="0">
            <a:noAutofit/>
          </a:bodyPr>
          <a:p>
            <a:pPr marL="216000" indent="-215640">
              <a:lnSpc>
                <a:spcPct val="100000"/>
              </a:lnSpc>
              <a:tabLst>
                <a:tab algn="l" pos="0"/>
              </a:tabLst>
            </a:pPr>
            <a:r>
              <a:rPr b="0" lang="es-ES" sz="1800" spc="-1" strike="noStrike">
                <a:latin typeface="Google Sans;Arial"/>
              </a:rPr>
              <a:t>"El primer error que cometemos es caer en la 'ilusión de la perfección'. Como la IA nos devuelve un bloque de código limpio y bien formateado en tres segundos, asumimos que es correcto. Pero la realidad es que los modelos de lenguaje no entienden de seguridad; solo predicen qué caracteres deberían ir después de otros basándose en repositorios públicos que, muchas veces, ya contenían fallos. Debemos cambiar el chip: el código de la IA no es de un experto, es el de un asistente que necesita supervisión constante."</a:t>
            </a:r>
            <a:endParaRPr b="0" lang="es-ES" sz="18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Img"/>
          </p:nvPr>
        </p:nvSpPr>
        <p:spPr>
          <a:xfrm>
            <a:off x="216000" y="812520"/>
            <a:ext cx="7126560" cy="4008240"/>
          </a:xfrm>
          <a:prstGeom prst="rect">
            <a:avLst/>
          </a:prstGeom>
        </p:spPr>
      </p:sp>
      <p:sp>
        <p:nvSpPr>
          <p:cNvPr id="95" name="PlaceHolder 2"/>
          <p:cNvSpPr>
            <a:spLocks noGrp="1"/>
          </p:cNvSpPr>
          <p:nvPr>
            <p:ph type="body"/>
          </p:nvPr>
        </p:nvSpPr>
        <p:spPr>
          <a:xfrm>
            <a:off x="756000" y="5078520"/>
            <a:ext cx="6046920" cy="4810320"/>
          </a:xfrm>
          <a:prstGeom prst="rect">
            <a:avLst/>
          </a:prstGeom>
        </p:spPr>
        <p:txBody>
          <a:bodyPr lIns="0" rIns="0" tIns="0" bIns="0">
            <a:noAutofit/>
          </a:bodyPr>
          <a:p>
            <a:pPr marL="216000" indent="-215640">
              <a:lnSpc>
                <a:spcPct val="100000"/>
              </a:lnSpc>
              <a:tabLst>
                <a:tab algn="l" pos="0"/>
              </a:tabLst>
            </a:pPr>
            <a:r>
              <a:rPr b="0" lang="es-ES" sz="1800" spc="-1" strike="noStrike">
                <a:latin typeface="Google Sans;Arial"/>
              </a:rPr>
              <a:t>Pero la realidad es que los modelos de lenguaje no entienden de seguridad; solo predicen qué caracteres deberían ir después de otros basándose en repositorios públicos que, muchas veces, ya contenían fallos. Debemos cambiar el chip: el código de la IA no es de un experto, es el de un asistente que necesita supervisión constante."</a:t>
            </a:r>
            <a:endParaRPr b="0" lang="es-ES" sz="1800" spc="-1" strike="noStrike">
              <a:latin typeface="Arial"/>
            </a:endParaRPr>
          </a:p>
        </p:txBody>
      </p:sp>
      <p:pic>
        <p:nvPicPr>
          <p:cNvPr id="96" name="" descr=""/>
          <p:cNvPicPr/>
          <p:nvPr/>
        </p:nvPicPr>
        <p:blipFill>
          <a:blip r:embed="rId1"/>
          <a:stretch/>
        </p:blipFill>
        <p:spPr>
          <a:xfrm>
            <a:off x="2728800" y="1979640"/>
            <a:ext cx="4290480" cy="2339640"/>
          </a:xfrm>
          <a:prstGeom prst="rect">
            <a:avLst/>
          </a:prstGeom>
          <a:ln w="0">
            <a:noFill/>
          </a:ln>
        </p:spPr>
      </p:pic>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sldImg"/>
          </p:nvPr>
        </p:nvSpPr>
        <p:spPr>
          <a:xfrm>
            <a:off x="216000" y="812520"/>
            <a:ext cx="7126920" cy="4008600"/>
          </a:xfrm>
          <a:prstGeom prst="rect">
            <a:avLst/>
          </a:prstGeom>
        </p:spPr>
      </p:sp>
      <p:sp>
        <p:nvSpPr>
          <p:cNvPr id="98" name="PlaceHolder 2"/>
          <p:cNvSpPr>
            <a:spLocks noGrp="1"/>
          </p:cNvSpPr>
          <p:nvPr>
            <p:ph type="body"/>
          </p:nvPr>
        </p:nvSpPr>
        <p:spPr>
          <a:xfrm>
            <a:off x="756000" y="5078520"/>
            <a:ext cx="6047280" cy="4810680"/>
          </a:xfrm>
          <a:prstGeom prst="rect">
            <a:avLst/>
          </a:prstGeom>
        </p:spPr>
        <p:txBody>
          <a:bodyPr lIns="0" rIns="0" tIns="0" bIns="0">
            <a:noAutofit/>
          </a:bodyPr>
          <a:p>
            <a:pPr marL="216000" indent="-216000">
              <a:lnSpc>
                <a:spcPct val="100000"/>
              </a:lnSpc>
            </a:pPr>
            <a:r>
              <a:rPr b="0" lang="es-ES" sz="1800" spc="-1" strike="noStrike">
                <a:latin typeface="Arial"/>
              </a:rPr>
              <a:t>Entrando en fallos técnicos concretos, la IA suele descuidar tres pilares básicos. Primero, la validación de datos de entrada del usuario, lo que deja la puerta abierta a inyecciones. Segundo, la gestión de contraseñas, proponiendo algoritmos de cifrado obsoletos o rotos como MD5 porque aparecen millones de veces en manuales viejos. Y tercero, la exposición de secretos, donde la IA incluye de forma involuntaria llaves API o tokens de acceso reales dentro del propio texto del código.</a:t>
            </a:r>
            <a:endParaRPr b="0" lang="es-ES" sz="18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216000" y="812520"/>
            <a:ext cx="7126920" cy="4008600"/>
          </a:xfrm>
          <a:prstGeom prst="rect">
            <a:avLst/>
          </a:prstGeom>
        </p:spPr>
      </p:sp>
      <p:sp>
        <p:nvSpPr>
          <p:cNvPr id="100" name="PlaceHolder 2"/>
          <p:cNvSpPr>
            <a:spLocks noGrp="1"/>
          </p:cNvSpPr>
          <p:nvPr>
            <p:ph type="body"/>
          </p:nvPr>
        </p:nvSpPr>
        <p:spPr>
          <a:xfrm>
            <a:off x="756000" y="5078520"/>
            <a:ext cx="6047280" cy="4810680"/>
          </a:xfrm>
          <a:prstGeom prst="rect">
            <a:avLst/>
          </a:prstGeom>
        </p:spPr>
        <p:txBody>
          <a:bodyPr lIns="0" rIns="0" tIns="0" bIns="0">
            <a:noAutofit/>
          </a:bodyPr>
          <a:p>
            <a:pPr marL="216000" indent="-216000">
              <a:lnSpc>
                <a:spcPct val="100000"/>
              </a:lnSpc>
            </a:pPr>
            <a:r>
              <a:rPr b="0" lang="es-ES" sz="2000" spc="-1" strike="noStrike">
                <a:latin typeface="Arial"/>
              </a:rPr>
              <a:t> </a:t>
            </a:r>
            <a:r>
              <a:rPr b="0" lang="es-ES" sz="1800" spc="-1" strike="noStrike">
                <a:latin typeface="Arial"/>
              </a:rPr>
              <a:t>Pero el peligro técnico más fascinante y peligroso son las alucinaciones. Si le pides a la IA una solución compleja, puede inventar de forma muy convincente una librería o biblioteca que no existe. ¿Cómo se aprovecha un hacker de esto? Monitoriza las alucinaciones comunes de modelos públicos, registra esa librería inventada con ese nombre exacto en repositorios globales como NPM o PyPI y le inyecta código espía. Es un ataque de Typosquatting: cuando tu servidor descargue automáticamente el código recomendado por la IA, estarás instalando malware sin saberlo."</a:t>
            </a:r>
            <a:endParaRPr b="0" lang="es-ES" sz="18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sldImg"/>
          </p:nvPr>
        </p:nvSpPr>
        <p:spPr>
          <a:xfrm>
            <a:off x="216000" y="812520"/>
            <a:ext cx="7126920" cy="4008600"/>
          </a:xfrm>
          <a:prstGeom prst="rect">
            <a:avLst/>
          </a:prstGeom>
        </p:spPr>
      </p:sp>
      <p:sp>
        <p:nvSpPr>
          <p:cNvPr id="102" name="PlaceHolder 2"/>
          <p:cNvSpPr>
            <a:spLocks noGrp="1"/>
          </p:cNvSpPr>
          <p:nvPr>
            <p:ph type="body"/>
          </p:nvPr>
        </p:nvSpPr>
        <p:spPr>
          <a:xfrm>
            <a:off x="756000" y="5078520"/>
            <a:ext cx="6047280" cy="4810680"/>
          </a:xfrm>
          <a:prstGeom prst="rect">
            <a:avLst/>
          </a:prstGeom>
        </p:spPr>
        <p:txBody>
          <a:bodyPr lIns="0" rIns="0" tIns="0" bIns="0">
            <a:noAutofit/>
          </a:bodyPr>
          <a:p>
            <a:pPr marL="216000" indent="-216000">
              <a:lnSpc>
                <a:spcPct val="100000"/>
              </a:lnSpc>
            </a:pPr>
            <a:r>
              <a:rPr b="0" lang="es-ES" sz="1800" spc="-1" strike="noStrike">
                <a:latin typeface="Arial"/>
              </a:rPr>
              <a:t>El riesgo también es legal y de cumplimiento. Mientras que en Estados Unidos la regulación de privacidad está muy fragmentada, en la Unión Europea el GDPR castiga severamente el tratamiento irresponsable de los datos. Además, la IA a veces copia textualmente bloques protegidos por licencias restrictivas GPL o Copyleft. Si incluyes código GPL restrictivo dentro de un desarrollo comercial cerrado, la ley podría obligar a tu organización a liberar y regalar todo su código fuente al público de forma gratuita. Ya existen demandas millonarias activas por esto.</a:t>
            </a:r>
            <a:endParaRPr b="0" lang="es-ES" sz="18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216000" y="812520"/>
            <a:ext cx="7126920" cy="4008600"/>
          </a:xfrm>
          <a:prstGeom prst="rect">
            <a:avLst/>
          </a:prstGeom>
        </p:spPr>
      </p:sp>
      <p:sp>
        <p:nvSpPr>
          <p:cNvPr id="104" name="PlaceHolder 2"/>
          <p:cNvSpPr>
            <a:spLocks noGrp="1"/>
          </p:cNvSpPr>
          <p:nvPr>
            <p:ph type="body"/>
          </p:nvPr>
        </p:nvSpPr>
        <p:spPr>
          <a:xfrm>
            <a:off x="756000" y="5078520"/>
            <a:ext cx="6047280" cy="4810680"/>
          </a:xfrm>
          <a:prstGeom prst="rect">
            <a:avLst/>
          </a:prstGeom>
        </p:spPr>
        <p:txBody>
          <a:bodyPr lIns="0" rIns="0" tIns="0" bIns="0">
            <a:noAutofit/>
          </a:bodyPr>
          <a:p>
            <a:pPr marL="216000" indent="-216000">
              <a:lnSpc>
                <a:spcPct val="100000"/>
              </a:lnSpc>
            </a:pPr>
            <a:r>
              <a:rPr b="0" lang="es-ES" sz="1800" spc="-1" strike="noStrike">
                <a:latin typeface="Arial"/>
              </a:rPr>
              <a:t>"Now, let’s switch to English to talk about real data breaches. The biggest threat starts with public prompts. In 2023, Samsung engineers accidentally leaked confidential semiconductor blueprints by pasting them into ChatGPT for optimization. This happens every day in critical sectors. Well-intentioned doctors upload sensitive medical records to summarize treatments, and law enforcement agents paste confidential profiles to write automated reports. This creates Shadow AI: employees creating accidental data exfiltration pipelines because public models reuse your inputs to retrain themselves."</a:t>
            </a:r>
            <a:endParaRPr b="0" lang="es-ES" sz="18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216000" y="812520"/>
            <a:ext cx="7126920" cy="4008600"/>
          </a:xfrm>
          <a:prstGeom prst="rect">
            <a:avLst/>
          </a:prstGeom>
        </p:spPr>
      </p:sp>
      <p:sp>
        <p:nvSpPr>
          <p:cNvPr id="106" name="PlaceHolder 2"/>
          <p:cNvSpPr>
            <a:spLocks noGrp="1"/>
          </p:cNvSpPr>
          <p:nvPr>
            <p:ph type="body"/>
          </p:nvPr>
        </p:nvSpPr>
        <p:spPr>
          <a:xfrm>
            <a:off x="756000" y="5078520"/>
            <a:ext cx="6047280" cy="5146560"/>
          </a:xfrm>
          <a:prstGeom prst="rect">
            <a:avLst/>
          </a:prstGeom>
        </p:spPr>
        <p:txBody>
          <a:bodyPr lIns="0" rIns="0" tIns="0" bIns="0">
            <a:noAutofit/>
          </a:bodyPr>
          <a:p>
            <a:pPr marL="216000" indent="-216000">
              <a:lnSpc>
                <a:spcPct val="100000"/>
              </a:lnSpc>
            </a:pPr>
            <a:r>
              <a:rPr b="0" lang="es-ES" sz="1800" spc="-1" strike="noStrike">
                <a:latin typeface="Arial"/>
              </a:rPr>
              <a:t>"</a:t>
            </a:r>
            <a:r>
              <a:rPr b="0" lang="es-ES" sz="1600" spc="-1" strike="noStrike">
                <a:latin typeface="Arial"/>
              </a:rPr>
              <a:t>Beyond corporate and legal fines, we must analyze the human cost of these security failures. When an AI leak exposes personal identifiable information, the consequences for real people are devastating.</a:t>
            </a:r>
            <a:endParaRPr b="0" lang="es-ES" sz="1600" spc="-1" strike="noStrike">
              <a:latin typeface="Arial"/>
            </a:endParaRPr>
          </a:p>
          <a:p>
            <a:pPr marL="216000" indent="-216000">
              <a:lnSpc>
                <a:spcPct val="100000"/>
              </a:lnSpc>
            </a:pPr>
            <a:r>
              <a:rPr b="0" lang="es-ES" sz="1600" spc="-1" strike="noStrike">
                <a:latin typeface="Arial"/>
              </a:rPr>
              <a:t>First, it causes immediate Financial Fraud, where criminals can drain bank accounts or steal a person's credit identity. Second, it leads to unfair Workplace Discrimination. If a candidate's leaked private data or opinions become public, they face immediate employment rejection.</a:t>
            </a:r>
            <a:endParaRPr b="0" lang="es-ES" sz="1600" spc="-1" strike="noStrike">
              <a:latin typeface="Arial"/>
            </a:endParaRPr>
          </a:p>
          <a:p>
            <a:pPr marL="216000" indent="-216000">
              <a:lnSpc>
                <a:spcPct val="100000"/>
              </a:lnSpc>
            </a:pPr>
            <a:r>
              <a:rPr b="0" lang="es-ES" sz="1600" spc="-1" strike="noStrike">
                <a:latin typeface="Arial"/>
              </a:rPr>
              <a:t>Most dangerously, malicious databases allow the Social Profiling of individuals. People are automatically categorized and judged by their secret medical histories, their social class, or aspects of their private lives. This data categorization leads to severe Systemic Exclusion: companies or algorithms can ban individuals from getting a health insurance policy, renting an apartment, or obtaining a financial loan. In short, data leakage is not just an IT problem; it is a direct threat to human rights and social inclusion."</a:t>
            </a:r>
            <a:endParaRPr b="0" lang="es-ES" sz="16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216000" y="812520"/>
            <a:ext cx="7126920" cy="4008600"/>
          </a:xfrm>
          <a:prstGeom prst="rect">
            <a:avLst/>
          </a:prstGeom>
        </p:spPr>
      </p:sp>
      <p:sp>
        <p:nvSpPr>
          <p:cNvPr id="108" name="PlaceHolder 2"/>
          <p:cNvSpPr>
            <a:spLocks noGrp="1"/>
          </p:cNvSpPr>
          <p:nvPr>
            <p:ph type="body"/>
          </p:nvPr>
        </p:nvSpPr>
        <p:spPr>
          <a:xfrm>
            <a:off x="756000" y="5078520"/>
            <a:ext cx="6047280" cy="4810680"/>
          </a:xfrm>
          <a:prstGeom prst="rect">
            <a:avLst/>
          </a:prstGeom>
        </p:spPr>
        <p:txBody>
          <a:bodyPr lIns="0" rIns="0" tIns="0" bIns="0">
            <a:noAutofit/>
          </a:bodyPr>
          <a:p>
            <a:pPr marL="216000" indent="-216000">
              <a:lnSpc>
                <a:spcPct val="100000"/>
              </a:lnSpc>
            </a:pPr>
            <a:r>
              <a:rPr b="0" lang="es-ES" sz="1800" spc="-1" strike="noStrike">
                <a:latin typeface="Arial"/>
              </a:rPr>
              <a:t>To fight this under GDPR Article 9, companies need a strict Data Governance stack to protect private human information. First, we use Data Loss Prevention (DLP) systems. These tools run locally and block your browser if you try to copy real private database fields into public websites. Second, we apply Data Masking and Obfuscation to replace real names or medical flags with realistic fake tokens. By using 100% offline, local software like Microsoft Presidio or ARX Data Anonymizer, the real identities never touch the cloud, ensuring absolute privacy."</a:t>
            </a:r>
            <a:endParaRPr b="0" lang="es-ES" sz="18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sldImg"/>
          </p:nvPr>
        </p:nvSpPr>
        <p:spPr>
          <a:xfrm>
            <a:off x="216000" y="812520"/>
            <a:ext cx="7126920" cy="4008600"/>
          </a:xfrm>
          <a:prstGeom prst="rect">
            <a:avLst/>
          </a:prstGeom>
        </p:spPr>
      </p:sp>
      <p:sp>
        <p:nvSpPr>
          <p:cNvPr id="110" name="PlaceHolder 2"/>
          <p:cNvSpPr>
            <a:spLocks noGrp="1"/>
          </p:cNvSpPr>
          <p:nvPr>
            <p:ph type="body"/>
          </p:nvPr>
        </p:nvSpPr>
        <p:spPr>
          <a:xfrm>
            <a:off x="756000" y="5078520"/>
            <a:ext cx="6047280" cy="4810680"/>
          </a:xfrm>
          <a:prstGeom prst="rect">
            <a:avLst/>
          </a:prstGeom>
        </p:spPr>
        <p:txBody>
          <a:bodyPr lIns="0" rIns="0" tIns="0" bIns="0">
            <a:noAutofit/>
          </a:bodyPr>
          <a:p>
            <a:pPr marL="216000" indent="-216000">
              <a:lnSpc>
                <a:spcPct val="100000"/>
              </a:lnSpc>
            </a:pPr>
            <a:r>
              <a:rPr b="0" lang="es-ES" sz="1800" spc="-1" strike="noStrike">
                <a:latin typeface="Arial"/>
              </a:rPr>
              <a:t>"Let’s dive into Data Loss Prevention (DLP) architecture. To stop code and data leaks, organizations implement three types of DLP solutions. First, Endpoint DLP runs as a local agent on the developer's laptop to control clipboard copying, screenshots, or USB transfers. Second, Network DLP inspects data-in-motion at the company perimeter, tracking outbound channels like HTTPS or SMTP. And third, Cloud DLP secures cloud storage buckets and SaaS integrations.</a:t>
            </a:r>
            <a:endParaRPr b="0" lang="es-ES" sz="1800" spc="-1" strike="noStrike">
              <a:latin typeface="Arial"/>
            </a:endParaRPr>
          </a:p>
          <a:p>
            <a:pPr marL="216000" indent="-216000">
              <a:lnSpc>
                <a:spcPct val="100000"/>
              </a:lnSpc>
            </a:pPr>
            <a:r>
              <a:rPr b="0" lang="es-ES" sz="1800" spc="-1" strike="noStrike">
                <a:latin typeface="Arial"/>
              </a:rPr>
              <a:t>These technologies prevent major corporate threats like insider data theft and accidental code uploads to public AI endpoints. Enterprise teams rely on major market leaders like Microsoft Purview DLP, Forcepoint, or cloud-native security platforms like Netskope."</a:t>
            </a:r>
            <a:endParaRPr b="0" lang="es-ES" sz="18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216000" y="812520"/>
            <a:ext cx="7126920" cy="4008600"/>
          </a:xfrm>
          <a:prstGeom prst="rect">
            <a:avLst/>
          </a:prstGeom>
        </p:spPr>
      </p:sp>
      <p:sp>
        <p:nvSpPr>
          <p:cNvPr id="112" name="PlaceHolder 2"/>
          <p:cNvSpPr>
            <a:spLocks noGrp="1"/>
          </p:cNvSpPr>
          <p:nvPr>
            <p:ph type="body"/>
          </p:nvPr>
        </p:nvSpPr>
        <p:spPr>
          <a:xfrm>
            <a:off x="756000" y="5078520"/>
            <a:ext cx="6047280" cy="4816440"/>
          </a:xfrm>
          <a:prstGeom prst="rect">
            <a:avLst/>
          </a:prstGeom>
        </p:spPr>
        <p:txBody>
          <a:bodyPr lIns="0" rIns="0" tIns="0" bIns="0">
            <a:noAutofit/>
          </a:bodyPr>
          <a:p>
            <a:pPr marL="216000" indent="-216000">
              <a:lnSpc>
                <a:spcPct val="100000"/>
              </a:lnSpc>
            </a:pPr>
            <a:r>
              <a:rPr b="0" lang="es-ES" sz="1800" spc="-1" strike="noStrike">
                <a:latin typeface="Arial"/>
              </a:rPr>
              <a:t>"Now, how do we modify text and numbers safely before the AI reads them? We use Data Masking. There are three fundamental masking types. First, Static Data Masking (SDM) creates permanently sanitized database copies for sandboxes and development. This transformation is 100% irreversible; if a backup is breached, the data is completely useless to hackers.</a:t>
            </a:r>
            <a:endParaRPr b="0" lang="es-ES" sz="1800" spc="-1" strike="noStrike">
              <a:latin typeface="Arial"/>
            </a:endParaRPr>
          </a:p>
          <a:p>
            <a:pPr marL="216000" indent="-216000">
              <a:lnSpc>
                <a:spcPct val="100000"/>
              </a:lnSpc>
            </a:pPr>
            <a:r>
              <a:rPr b="0" lang="es-ES" sz="1800" spc="-1" strike="noStrike">
                <a:latin typeface="Arial"/>
              </a:rPr>
              <a:t>Second, Dynamic Data Masking (DDM) redacts sensitive information in transit, in real-time, based on user credentials without modifying the underlying database. And third, On-The-Fly Masking cleans data mid-stream as it transfers from production environments to sandbox systems. Industry-grade platforms like Perforce Delphix, Mage Data, or native Informatica and Oracle engines are used to automate these flows."</a:t>
            </a:r>
            <a:endParaRPr b="0" lang="es-ES" sz="18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216000" y="812520"/>
            <a:ext cx="7126920" cy="4008600"/>
          </a:xfrm>
          <a:prstGeom prst="rect">
            <a:avLst/>
          </a:prstGeom>
        </p:spPr>
      </p:sp>
      <p:sp>
        <p:nvSpPr>
          <p:cNvPr id="114" name="PlaceHolder 2"/>
          <p:cNvSpPr>
            <a:spLocks noGrp="1"/>
          </p:cNvSpPr>
          <p:nvPr>
            <p:ph type="body"/>
          </p:nvPr>
        </p:nvSpPr>
        <p:spPr>
          <a:xfrm>
            <a:off x="756000" y="5078520"/>
            <a:ext cx="6047280" cy="4810680"/>
          </a:xfrm>
          <a:prstGeom prst="rect">
            <a:avLst/>
          </a:prstGeom>
        </p:spPr>
        <p:txBody>
          <a:bodyPr lIns="0" rIns="0" tIns="0" bIns="0">
            <a:noAutofit/>
          </a:bodyPr>
          <a:p>
            <a:pPr marL="216000" indent="-216000">
              <a:lnSpc>
                <a:spcPct val="100000"/>
              </a:lnSpc>
            </a:pPr>
            <a:r>
              <a:rPr b="0" lang="es-ES" sz="1800" spc="-1" strike="noStrike">
                <a:latin typeface="Arial"/>
              </a:rPr>
              <a:t>"Volviendo al español, ¿cómo enfrentamos todo esto? Implementando una aduana automática de software. Primero usamos pruebas SAST (Análisis Estático) para escanear el texto de nuestro código línea por línea buscando fallos conocidos. Segundo, ejecutamos pruebas SCA (Análisis de Composición) para auditar que las librerías externas de NPM sugeridas por la IA no tengan virus ni conflictos de licencias. Confiamos en herramientas corporativas como SonarQube o Snyk porque cumplen normas ISO 27001 y SOC 2, y permiten instalación On-Premise: todo el análisis se ejecuta localmente en nuestros servidores sin subir nada a la nube."</a:t>
            </a:r>
            <a:endParaRPr b="0" lang="es-ES" sz="1800" spc="-1" strike="noStrike">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216000" y="812520"/>
            <a:ext cx="7126920" cy="4008600"/>
          </a:xfrm>
          <a:prstGeom prst="rect">
            <a:avLst/>
          </a:prstGeom>
        </p:spPr>
      </p:sp>
      <p:sp>
        <p:nvSpPr>
          <p:cNvPr id="116" name="PlaceHolder 2"/>
          <p:cNvSpPr>
            <a:spLocks noGrp="1"/>
          </p:cNvSpPr>
          <p:nvPr>
            <p:ph type="body"/>
          </p:nvPr>
        </p:nvSpPr>
        <p:spPr>
          <a:xfrm>
            <a:off x="756000" y="5078520"/>
            <a:ext cx="6047280" cy="5099760"/>
          </a:xfrm>
          <a:prstGeom prst="rect">
            <a:avLst/>
          </a:prstGeom>
        </p:spPr>
        <p:txBody>
          <a:bodyPr lIns="0" rIns="0" tIns="0" bIns="0">
            <a:noAutofit/>
          </a:bodyPr>
          <a:p>
            <a:pPr marL="216000" indent="-216000">
              <a:lnSpc>
                <a:spcPct val="100000"/>
              </a:lnSpc>
            </a:pPr>
            <a:r>
              <a:rPr b="0" lang="es-ES" sz="1800" spc="-1" strike="noStrike">
                <a:latin typeface="Arial"/>
              </a:rPr>
              <a:t>"Para entenderlo visualmente, miremos el ejemplo en pantalla. La IA genera una consulta típica a una base de datos concatenando directamente el texto que introduce el usuario. A simple vista parece limpia, pero permite un ataque crítico de Inyección SQL. Si no tuviéramos protecciones, un atacante podría saltarse el inicio de sesión o borrar la base de datos desde el formulario web. Aquí actúa el SAST: funciona como el corrector ortográfico de Word, pero en vez de buscar faltas de ortografía, busca vulnerabilidades. Subraya la línea en rojo inmediatamente y congela el proyecto bloqueando su avance.</a:t>
            </a:r>
            <a:endParaRPr b="0" lang="es-ES" sz="1800" spc="-1" strike="noStrike">
              <a:latin typeface="Arial"/>
            </a:endParaRPr>
          </a:p>
          <a:p>
            <a:pPr marL="216000" indent="-216000">
              <a:lnSpc>
                <a:spcPct val="100000"/>
              </a:lnSpc>
            </a:pPr>
            <a:r>
              <a:rPr b="0" lang="es-ES" sz="1800" spc="-1" strike="noStrike">
                <a:latin typeface="Arial"/>
              </a:rPr>
              <a:t>• </a:t>
            </a:r>
            <a:r>
              <a:rPr b="0" lang="es-ES" sz="1800" spc="-1" strike="noStrike">
                <a:latin typeface="Arial"/>
              </a:rPr>
              <a:t>El código inseguro (con el +) es como un banco donde dejas entrar a un cliente con una nota que dice "Dame todo tu dinero", y el cajero obedece la nota ciegamente porque la lee como una orden directa."</a:t>
            </a:r>
            <a:endParaRPr b="0" lang="es-ES" sz="1800" spc="-1" strike="noStrike">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216000" y="812520"/>
            <a:ext cx="7126920" cy="4008600"/>
          </a:xfrm>
          <a:prstGeom prst="rect">
            <a:avLst/>
          </a:prstGeom>
        </p:spPr>
      </p:sp>
      <p:sp>
        <p:nvSpPr>
          <p:cNvPr id="118" name="PlaceHolder 2"/>
          <p:cNvSpPr>
            <a:spLocks noGrp="1"/>
          </p:cNvSpPr>
          <p:nvPr>
            <p:ph type="body"/>
          </p:nvPr>
        </p:nvSpPr>
        <p:spPr>
          <a:xfrm>
            <a:off x="756000" y="5078520"/>
            <a:ext cx="6047280" cy="5383080"/>
          </a:xfrm>
          <a:prstGeom prst="rect">
            <a:avLst/>
          </a:prstGeom>
        </p:spPr>
        <p:txBody>
          <a:bodyPr lIns="0" rIns="0" tIns="0" bIns="0">
            <a:noAutofit/>
          </a:bodyPr>
          <a:p>
            <a:pPr marL="216000" indent="-216000">
              <a:lnSpc>
                <a:spcPct val="100000"/>
              </a:lnSpc>
            </a:pPr>
            <a:r>
              <a:rPr b="0" lang="es-ES" sz="1800" spc="-1" strike="noStrike">
                <a:latin typeface="Arial"/>
              </a:rPr>
              <a:t>"La automatización ayuda, pero la última aduana es siempre humana. Tras la alerta del SAST, el código pasa a una sala de espera digital llamada Pull Request. Aquí entra la Revisión por Pares (Peer Review): un compañero programador de nuestro equipo, con más experiencia, debe abrir el archivo, validar la alerta del robot y corregir el código aplicando parámetros seguros, como vemos a la derecha en verde. La regla de oro es: el SAST es el escáner de metales automático de alta velocidad del aeropuerto; la revisión por pares es el oficial humano que evalúa el contexto lógico del viaje.</a:t>
            </a:r>
            <a:endParaRPr b="0" lang="es-ES" sz="1800" spc="-1" strike="noStrike">
              <a:latin typeface="Arial"/>
            </a:endParaRPr>
          </a:p>
          <a:p>
            <a:pPr marL="216000" indent="-216000">
              <a:lnSpc>
                <a:spcPct val="100000"/>
              </a:lnSpc>
            </a:pPr>
            <a:endParaRPr b="0" lang="es-ES" sz="1800" spc="-1" strike="noStrike">
              <a:latin typeface="Arial"/>
            </a:endParaRPr>
          </a:p>
          <a:p>
            <a:pPr marL="216000" indent="-216000">
              <a:lnSpc>
                <a:spcPct val="100000"/>
              </a:lnSpc>
            </a:pPr>
            <a:r>
              <a:rPr b="0" lang="es-ES" sz="1800" spc="-1" strike="noStrike">
                <a:latin typeface="Arial"/>
              </a:rPr>
              <a:t>• </a:t>
            </a:r>
            <a:r>
              <a:rPr b="0" lang="es-ES" sz="1800" spc="-1" strike="noStrike">
                <a:latin typeface="Arial"/>
              </a:rPr>
              <a:t>El código seguro (con el ?) es como poner una ventanilla de cristal blindado. El cliente puede pasar la nota, pero el cajero la mira simplemente como un papel (texto), no se asusta, no ejecuta la orden y llama a seguridad.</a:t>
            </a:r>
            <a:endParaRPr b="0" lang="es-ES" sz="1800" spc="-1" strike="noStrike">
              <a:latin typeface="Arial"/>
            </a:endParaRPr>
          </a:p>
          <a:p>
            <a:pPr marL="216000" indent="-216000">
              <a:lnSpc>
                <a:spcPct val="100000"/>
              </a:lnSpc>
            </a:pPr>
            <a:r>
              <a:rPr b="0" lang="es-ES" sz="2000" spc="-1" strike="noStrike">
                <a:latin typeface="Arial"/>
              </a:rPr>
              <a:t>"</a:t>
            </a:r>
            <a:endParaRPr b="0" lang="es-ES"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s-E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s-E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3200" spc="-1" strike="noStrike">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s-E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3200" spc="-1" strike="noStrike">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3200" spc="-1" strike="noStrike">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3200" spc="-1" strike="noStrike">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3200" spc="-1" strike="noStrike">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s-E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3200" spc="-1" strike="noStrike">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3200" spc="-1" strike="noStrike">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s-E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s-ES" sz="3200" spc="-1" strike="noStrike">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s-E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3200" spc="-1" strike="noStrike">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3200" spc="-1" strike="noStrike">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3200" spc="-1" strike="noStrike">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s-E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s-ES" sz="3200" spc="-1" strike="noStrike">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s-ES" sz="3200" spc="-1" strike="noStrike">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s-ES" sz="3200" spc="-1" strike="noStrike">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s-ES" sz="3200" spc="-1" strike="noStrike">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s-ES" sz="3200" spc="-1" strike="noStrike">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s-E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s-ES" sz="4400" spc="-1" strike="noStrike">
                <a:latin typeface="Arial"/>
              </a:rPr>
              <a:t>Pulse para editar el formato del texto de título</a:t>
            </a:r>
            <a:endParaRPr b="0" lang="es-ES"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s-ES" sz="3200" spc="-1" strike="noStrike">
                <a:latin typeface="Arial"/>
              </a:rPr>
              <a:t>Pulse para editar el formato de texto del esquema</a:t>
            </a:r>
            <a:endParaRPr b="0" lang="es-ES" sz="3200" spc="-1" strike="noStrike">
              <a:latin typeface="Arial"/>
            </a:endParaRPr>
          </a:p>
          <a:p>
            <a:pPr lvl="1" marL="864000" indent="-324000">
              <a:spcBef>
                <a:spcPts val="1134"/>
              </a:spcBef>
              <a:buClr>
                <a:srgbClr val="000000"/>
              </a:buClr>
              <a:buSzPct val="75000"/>
              <a:buFont typeface="Symbol" charset="2"/>
              <a:buChar char=""/>
            </a:pPr>
            <a:r>
              <a:rPr b="0" lang="es-ES" sz="2800" spc="-1" strike="noStrike">
                <a:latin typeface="Arial"/>
              </a:rPr>
              <a:t>Segundo nivel del esquema</a:t>
            </a:r>
            <a:endParaRPr b="0" lang="es-ES" sz="2800" spc="-1" strike="noStrike">
              <a:latin typeface="Arial"/>
            </a:endParaRPr>
          </a:p>
          <a:p>
            <a:pPr lvl="2" marL="1296000" indent="-288000">
              <a:spcBef>
                <a:spcPts val="850"/>
              </a:spcBef>
              <a:buClr>
                <a:srgbClr val="000000"/>
              </a:buClr>
              <a:buSzPct val="45000"/>
              <a:buFont typeface="Wingdings" charset="2"/>
              <a:buChar char=""/>
            </a:pPr>
            <a:r>
              <a:rPr b="0" lang="es-ES" sz="2400" spc="-1" strike="noStrike">
                <a:latin typeface="Arial"/>
              </a:rPr>
              <a:t>Tercer nivel del esquema</a:t>
            </a:r>
            <a:endParaRPr b="0" lang="es-ES" sz="2400" spc="-1" strike="noStrike">
              <a:latin typeface="Arial"/>
            </a:endParaRPr>
          </a:p>
          <a:p>
            <a:pPr lvl="3" marL="1728000" indent="-216000">
              <a:spcBef>
                <a:spcPts val="567"/>
              </a:spcBef>
              <a:buClr>
                <a:srgbClr val="000000"/>
              </a:buClr>
              <a:buSzPct val="75000"/>
              <a:buFont typeface="Symbol" charset="2"/>
              <a:buChar char=""/>
            </a:pPr>
            <a:r>
              <a:rPr b="0" lang="es-ES" sz="2000" spc="-1" strike="noStrike">
                <a:latin typeface="Arial"/>
              </a:rPr>
              <a:t>Cuarto nivel del esquema</a:t>
            </a:r>
            <a:endParaRPr b="0" lang="es-ES" sz="2000" spc="-1" strike="noStrike">
              <a:latin typeface="Arial"/>
            </a:endParaRPr>
          </a:p>
          <a:p>
            <a:pPr lvl="4" marL="2160000" indent="-216000">
              <a:spcBef>
                <a:spcPts val="283"/>
              </a:spcBef>
              <a:buClr>
                <a:srgbClr val="000000"/>
              </a:buClr>
              <a:buSzPct val="45000"/>
              <a:buFont typeface="Wingdings" charset="2"/>
              <a:buChar char=""/>
            </a:pPr>
            <a:r>
              <a:rPr b="0" lang="es-ES" sz="2000" spc="-1" strike="noStrike">
                <a:latin typeface="Arial"/>
              </a:rPr>
              <a:t>Quinto nivel del esquema</a:t>
            </a:r>
            <a:endParaRPr b="0" lang="es-ES" sz="2000" spc="-1" strike="noStrike">
              <a:latin typeface="Arial"/>
            </a:endParaRPr>
          </a:p>
          <a:p>
            <a:pPr lvl="5" marL="2592000" indent="-216000">
              <a:spcBef>
                <a:spcPts val="283"/>
              </a:spcBef>
              <a:buClr>
                <a:srgbClr val="000000"/>
              </a:buClr>
              <a:buSzPct val="45000"/>
              <a:buFont typeface="Wingdings" charset="2"/>
              <a:buChar char=""/>
            </a:pPr>
            <a:r>
              <a:rPr b="0" lang="es-ES" sz="2000" spc="-1" strike="noStrike">
                <a:latin typeface="Arial"/>
              </a:rPr>
              <a:t>Sexto nivel del esquema</a:t>
            </a:r>
            <a:endParaRPr b="0" lang="es-ES" sz="2000" spc="-1" strike="noStrike">
              <a:latin typeface="Arial"/>
            </a:endParaRPr>
          </a:p>
          <a:p>
            <a:pPr lvl="6" marL="3024000" indent="-216000">
              <a:spcBef>
                <a:spcPts val="283"/>
              </a:spcBef>
              <a:buClr>
                <a:srgbClr val="000000"/>
              </a:buClr>
              <a:buSzPct val="45000"/>
              <a:buFont typeface="Wingdings" charset="2"/>
              <a:buChar char=""/>
            </a:pPr>
            <a:r>
              <a:rPr b="0" lang="es-ES" sz="2000" spc="-1" strike="noStrike">
                <a:latin typeface="Arial"/>
              </a:rPr>
              <a:t>Séptimo nivel del esquema</a:t>
            </a:r>
            <a:endParaRPr b="0" lang="es-E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44" name="CustomShape 1"/>
          <p:cNvSpPr/>
          <p:nvPr/>
        </p:nvSpPr>
        <p:spPr>
          <a:xfrm>
            <a:off x="685800" y="1371600"/>
            <a:ext cx="10819080" cy="210060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4400" spc="-1" strike="noStrike">
                <a:solidFill>
                  <a:srgbClr val="38bdf8"/>
                </a:solidFill>
                <a:latin typeface="Arial"/>
                <a:ea typeface="DejaVu Sans"/>
              </a:rPr>
              <a:t>Seguridad en el </a:t>
            </a:r>
            <a:endParaRPr b="0" lang="es-ES" sz="4400" spc="-1" strike="noStrike">
              <a:latin typeface="Arial"/>
            </a:endParaRPr>
          </a:p>
          <a:p>
            <a:pPr>
              <a:lnSpc>
                <a:spcPct val="100000"/>
              </a:lnSpc>
            </a:pPr>
            <a:r>
              <a:rPr b="1" lang="en-US" sz="4400" spc="-1" strike="noStrike">
                <a:solidFill>
                  <a:srgbClr val="38bdf8"/>
                </a:solidFill>
                <a:latin typeface="Arial"/>
                <a:ea typeface="DejaVu Sans"/>
              </a:rPr>
              <a:t>       </a:t>
            </a:r>
            <a:r>
              <a:rPr b="1" lang="en-US" sz="4400" spc="-1" strike="noStrike">
                <a:solidFill>
                  <a:srgbClr val="38bdf8"/>
                </a:solidFill>
                <a:latin typeface="Arial"/>
                <a:ea typeface="DejaVu Sans"/>
              </a:rPr>
              <a:t>Código</a:t>
            </a:r>
            <a:endParaRPr b="0" lang="es-ES" sz="4400" spc="-1" strike="noStrike">
              <a:latin typeface="Arial"/>
            </a:endParaRPr>
          </a:p>
          <a:p>
            <a:pPr>
              <a:lnSpc>
                <a:spcPct val="100000"/>
              </a:lnSpc>
            </a:pPr>
            <a:r>
              <a:rPr b="1" lang="en-US" sz="4400" spc="-1" strike="noStrike">
                <a:solidFill>
                  <a:srgbClr val="38bdf8"/>
                </a:solidFill>
                <a:latin typeface="Arial"/>
                <a:ea typeface="DejaVu Sans"/>
              </a:rPr>
              <a:t>Generado por IA</a:t>
            </a:r>
            <a:endParaRPr b="0" lang="es-ES" sz="4400" spc="-1" strike="noStrike">
              <a:latin typeface="Arial"/>
            </a:endParaRPr>
          </a:p>
        </p:txBody>
      </p:sp>
      <p:sp>
        <p:nvSpPr>
          <p:cNvPr id="45" name="CustomShape 2"/>
          <p:cNvSpPr/>
          <p:nvPr/>
        </p:nvSpPr>
        <p:spPr>
          <a:xfrm>
            <a:off x="2520000" y="4320000"/>
            <a:ext cx="5328360" cy="455400"/>
          </a:xfrm>
          <a:prstGeom prst="rect">
            <a:avLst/>
          </a:prstGeom>
          <a:noFill/>
          <a:ln w="0">
            <a:noFill/>
          </a:ln>
        </p:spPr>
        <p:style>
          <a:lnRef idx="0"/>
          <a:fillRef idx="0"/>
          <a:effectRef idx="0"/>
          <a:fontRef idx="minor"/>
        </p:style>
        <p:txBody>
          <a:bodyPr wrap="none" lIns="90000" rIns="90000" tIns="45000" bIns="45000">
            <a:spAutoFit/>
          </a:bodyPr>
          <a:p>
            <a:pPr>
              <a:lnSpc>
                <a:spcPct val="100000"/>
              </a:lnSpc>
            </a:pPr>
            <a:r>
              <a:rPr b="0" lang="en-US" sz="2400" spc="-1" strike="noStrike">
                <a:solidFill>
                  <a:srgbClr val="f8fafc"/>
                </a:solidFill>
                <a:latin typeface="Arial"/>
                <a:ea typeface="DejaVu Sans"/>
              </a:rPr>
              <a:t>Desafíos, Privacidad y Defensa Activa</a:t>
            </a:r>
            <a:endParaRPr b="0" lang="es-ES" sz="2400" spc="-1" strike="noStrike">
              <a:latin typeface="Arial"/>
            </a:endParaRPr>
          </a:p>
        </p:txBody>
      </p:sp>
      <p:sp>
        <p:nvSpPr>
          <p:cNvPr id="46" name="CustomShape 3"/>
          <p:cNvSpPr/>
          <p:nvPr/>
        </p:nvSpPr>
        <p:spPr>
          <a:xfrm>
            <a:off x="685800" y="5029200"/>
            <a:ext cx="10819080" cy="6994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i="1" lang="en-US" sz="2000" spc="-1" strike="noStrike">
                <a:solidFill>
                  <a:srgbClr val="fbbf24"/>
                </a:solidFill>
                <a:latin typeface="Arial"/>
                <a:ea typeface="DejaVu Sans"/>
              </a:rPr>
              <a:t>"La productividad sin controles de seguridad puede aumentar también la velocidad a la que generamos vulnerabilidades."</a:t>
            </a:r>
            <a:endParaRPr b="0" lang="es-ES" sz="2000" spc="-1" strike="noStrike">
              <a:latin typeface="Arial"/>
            </a:endParaRPr>
          </a:p>
        </p:txBody>
      </p:sp>
      <p:pic>
        <p:nvPicPr>
          <p:cNvPr id="47" name="" descr=""/>
          <p:cNvPicPr/>
          <p:nvPr/>
        </p:nvPicPr>
        <p:blipFill>
          <a:blip r:embed="rId1"/>
          <a:stretch/>
        </p:blipFill>
        <p:spPr>
          <a:xfrm>
            <a:off x="5760000" y="600840"/>
            <a:ext cx="6157800" cy="335844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48" name="CustomShape 1"/>
          <p:cNvSpPr/>
          <p:nvPr/>
        </p:nvSpPr>
        <p:spPr>
          <a:xfrm>
            <a:off x="685800" y="457200"/>
            <a:ext cx="10819080" cy="638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El Dilema de la Productividad (Parte 1)</a:t>
            </a:r>
            <a:endParaRPr b="0" lang="es-ES" sz="3600" spc="-1" strike="noStrike">
              <a:latin typeface="Arial"/>
            </a:endParaRPr>
          </a:p>
        </p:txBody>
      </p:sp>
      <p:sp>
        <p:nvSpPr>
          <p:cNvPr id="49" name="CustomShape 2"/>
          <p:cNvSpPr/>
          <p:nvPr/>
        </p:nvSpPr>
        <p:spPr>
          <a:xfrm>
            <a:off x="720000" y="1440000"/>
            <a:ext cx="10819080" cy="4663440"/>
          </a:xfrm>
          <a:prstGeom prst="rect">
            <a:avLst/>
          </a:prstGeom>
          <a:noFill/>
          <a:ln w="0">
            <a:noFill/>
          </a:ln>
        </p:spPr>
        <p:style>
          <a:lnRef idx="0"/>
          <a:fillRef idx="0"/>
          <a:effectRef idx="0"/>
          <a:fontRef idx="minor"/>
        </p:style>
        <p:txBody>
          <a:bodyPr lIns="90000" rIns="90000" tIns="45000" bIns="45000">
            <a:spAutoFit/>
          </a:bodyPr>
          <a:p>
            <a:pPr marL="216000" indent="-215280">
              <a:lnSpc>
                <a:spcPct val="100000"/>
              </a:lnSpc>
              <a:tabLst>
                <a:tab algn="l" pos="0"/>
              </a:tabLst>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El primer error que cometemos es caer en “la ilusión de la perfección”. Como la IA nos devuelve un bloque de código límpio y bien formateado en segundos, asumimos que es correcto.</a:t>
            </a:r>
            <a:endParaRPr b="0" lang="es-ES" sz="2000" spc="-1" strike="noStrike">
              <a:latin typeface="Arial"/>
            </a:endParaRPr>
          </a:p>
          <a:p>
            <a:pPr marL="216000" indent="-215280">
              <a:lnSpc>
                <a:spcPct val="100000"/>
              </a:lnSpc>
              <a:tabLst>
                <a:tab algn="l" pos="0"/>
              </a:tabLst>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Programadores Seniors: Usan la IA como un copiloto inteligente. Mantienen el criterio técnico, cuestionan las respuestas y auditan la lógica antes de fusionar. (al menos eso es lo que se espera)</a:t>
            </a:r>
            <a:endParaRPr b="0" lang="es-ES" sz="2000" spc="-1" strike="noStrike">
              <a:latin typeface="Arial"/>
            </a:endParaRPr>
          </a:p>
          <a:p>
            <a:pPr marL="216000" indent="-215280">
              <a:lnSpc>
                <a:spcPct val="100000"/>
              </a:lnSpc>
              <a:tabLst>
                <a:tab algn="l" pos="0"/>
              </a:tabLst>
            </a:pPr>
            <a:endParaRPr b="0" lang="es-ES" sz="2000" spc="-1" strike="noStrike">
              <a:latin typeface="Arial"/>
            </a:endParaRPr>
          </a:p>
          <a:p>
            <a:pPr marL="216000" indent="-215280">
              <a:lnSpc>
                <a:spcPct val="100000"/>
              </a:lnSpc>
              <a:tabLst>
                <a:tab algn="l" pos="0"/>
              </a:tabLst>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Programadores juniors y usuarios: Riesgo crítico de copy-paste ciego. La dependencia excesiva      </a:t>
            </a: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genera un estancamiento en el aprendizaje y una falsa ilusión de seguridad. </a:t>
            </a:r>
            <a:endParaRPr b="0" lang="es-ES" sz="2000" spc="-1" strike="noStrike">
              <a:latin typeface="Arial"/>
            </a:endParaRPr>
          </a:p>
          <a:p>
            <a:pPr marL="216000" indent="-215280">
              <a:lnSpc>
                <a:spcPct val="100000"/>
              </a:lnSpc>
              <a:tabLst>
                <a:tab algn="l" pos="0"/>
              </a:tabLst>
            </a:pPr>
            <a:br/>
            <a:endParaRPr b="0" lang="es-ES" sz="2000" spc="-1" strike="noStrike">
              <a:latin typeface="Arial"/>
            </a:endParaRPr>
          </a:p>
          <a:p>
            <a:pPr marL="216000" indent="-215280">
              <a:lnSpc>
                <a:spcPct val="100000"/>
              </a:lnSpc>
              <a:tabLst>
                <a:tab algn="l" pos="0"/>
              </a:tabLst>
            </a:pPr>
            <a:endParaRPr b="0" lang="es-ES" sz="2000" spc="-1" strike="noStrike">
              <a:latin typeface="Arial"/>
            </a:endParaRPr>
          </a:p>
          <a:p>
            <a:pPr marL="216000" indent="-215280">
              <a:lnSpc>
                <a:spcPct val="100000"/>
              </a:lnSpc>
              <a:tabLst>
                <a:tab algn="l" pos="0"/>
              </a:tabLst>
            </a:pPr>
            <a:endParaRPr b="0" lang="es-ES" sz="2000" spc="-1" strike="noStrike">
              <a:latin typeface="Arial"/>
            </a:endParaRPr>
          </a:p>
          <a:p>
            <a:pPr marL="216000" indent="-215280">
              <a:lnSpc>
                <a:spcPct val="100000"/>
              </a:lnSpc>
              <a:tabLst>
                <a:tab algn="l" pos="0"/>
              </a:tabLst>
            </a:pPr>
            <a:endParaRPr b="0" lang="es-ES" sz="2000" spc="-1" strike="noStrike">
              <a:latin typeface="Arial"/>
            </a:endParaRPr>
          </a:p>
          <a:p>
            <a:pPr marL="216000" indent="-215280">
              <a:lnSpc>
                <a:spcPct val="100000"/>
              </a:lnSpc>
              <a:tabLst>
                <a:tab algn="l" pos="0"/>
              </a:tabLst>
            </a:pPr>
            <a:r>
              <a:rPr b="1" lang="en-US" sz="2000" spc="-1" strike="noStrike">
                <a:solidFill>
                  <a:srgbClr val="fbbf24"/>
                </a:solidFill>
                <a:latin typeface="Calibri"/>
                <a:ea typeface="DejaVu Sans"/>
              </a:rPr>
              <a:t>Efecto: Escribir código 10 veces más rápido </a:t>
            </a:r>
            <a:endParaRPr b="0" lang="es-ES" sz="2000" spc="-1" strike="noStrike">
              <a:latin typeface="Arial"/>
            </a:endParaRPr>
          </a:p>
          <a:p>
            <a:pPr marL="216000" indent="-215280">
              <a:lnSpc>
                <a:spcPct val="100000"/>
              </a:lnSpc>
              <a:tabLst>
                <a:tab algn="l" pos="0"/>
              </a:tabLst>
            </a:pPr>
            <a:r>
              <a:rPr b="1" lang="en-US" sz="2000" spc="-1" strike="noStrike">
                <a:solidFill>
                  <a:srgbClr val="fbbf24"/>
                </a:solidFill>
                <a:latin typeface="Calibri"/>
                <a:ea typeface="DejaVu Sans"/>
              </a:rPr>
              <a:t>sin entenderlo multiplica por 10 la velocidad a la que se </a:t>
            </a:r>
            <a:endParaRPr b="0" lang="es-ES" sz="2000" spc="-1" strike="noStrike">
              <a:latin typeface="Arial"/>
            </a:endParaRPr>
          </a:p>
          <a:p>
            <a:pPr marL="216000" indent="-215280">
              <a:lnSpc>
                <a:spcPct val="100000"/>
              </a:lnSpc>
              <a:tabLst>
                <a:tab algn="l" pos="0"/>
              </a:tabLst>
            </a:pPr>
            <a:r>
              <a:rPr b="1" lang="en-US" sz="2000" spc="-1" strike="noStrike">
                <a:solidFill>
                  <a:srgbClr val="fbbf24"/>
                </a:solidFill>
                <a:latin typeface="Calibri"/>
                <a:ea typeface="DejaVu Sans"/>
              </a:rPr>
              <a:t>introducen fallos ocultos en el sistema.</a:t>
            </a:r>
            <a:endParaRPr b="0" lang="es-ES" sz="2000" spc="-1" strike="noStrike">
              <a:latin typeface="Arial"/>
            </a:endParaRPr>
          </a:p>
        </p:txBody>
      </p:sp>
      <p:pic>
        <p:nvPicPr>
          <p:cNvPr id="50" name="" descr=""/>
          <p:cNvPicPr/>
          <p:nvPr/>
        </p:nvPicPr>
        <p:blipFill>
          <a:blip r:embed="rId1"/>
          <a:stretch/>
        </p:blipFill>
        <p:spPr>
          <a:xfrm>
            <a:off x="7228800" y="3780000"/>
            <a:ext cx="4650480" cy="25358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51" name="CustomShape 1"/>
          <p:cNvSpPr/>
          <p:nvPr/>
        </p:nvSpPr>
        <p:spPr>
          <a:xfrm>
            <a:off x="685800" y="457200"/>
            <a:ext cx="10819080" cy="638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El Origen del Aprendizaje de la IA (Parte 2)</a:t>
            </a:r>
            <a:endParaRPr b="0" lang="es-ES" sz="3600" spc="-1" strike="noStrike">
              <a:latin typeface="Arial"/>
            </a:endParaRPr>
          </a:p>
        </p:txBody>
      </p:sp>
      <p:sp>
        <p:nvSpPr>
          <p:cNvPr id="52" name="CustomShape 2"/>
          <p:cNvSpPr/>
          <p:nvPr/>
        </p:nvSpPr>
        <p:spPr>
          <a:xfrm>
            <a:off x="685800" y="1828800"/>
            <a:ext cx="10819080" cy="383904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2200" spc="-1" strike="noStrike">
                <a:solidFill>
                  <a:srgbClr val="38bdf8"/>
                </a:solidFill>
                <a:latin typeface="Calibri"/>
                <a:ea typeface="DejaVu Sans"/>
              </a:rPr>
              <a:t>¿Por qué los modelos de lenguaje cometen errores tan básicos de seguridad?</a:t>
            </a:r>
            <a:endParaRPr b="0" lang="es-ES" sz="22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Entrenamiento Masivo: Los modelos devoran miles de millones de líneas de repositorios públicos de internet.</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Herencia del Pasado: Internet está inundado de foros antiguos y código obsoleto escrito hace 10 o 15 años lleno de fallos de seguridad.</a:t>
            </a:r>
            <a:endParaRPr b="0" lang="es-ES" sz="2000" spc="-1" strike="noStrike">
              <a:latin typeface="Arial"/>
            </a:endParaRPr>
          </a:p>
          <a:p>
            <a:pPr>
              <a:lnSpc>
                <a:spcPct val="100000"/>
              </a:lnSpc>
            </a:pPr>
            <a:br/>
            <a:r>
              <a:rPr b="0" lang="en-US" sz="1800" spc="-1" strike="noStrike">
                <a:solidFill>
                  <a:srgbClr val="fbbf24"/>
                </a:solidFill>
                <a:latin typeface="Courier New"/>
                <a:ea typeface="DejaVu Sans"/>
              </a:rPr>
              <a:t>[ Código Vulnerable en Internet ] ──► [ Entrenamiento IA ] ──► [ Sugerencias Inseguras Hoy ]</a:t>
            </a:r>
            <a:endParaRPr b="0" lang="es-ES" sz="1800" spc="-1" strike="noStrike">
              <a:latin typeface="Arial"/>
            </a:endParaRPr>
          </a:p>
          <a:p>
            <a:pPr>
              <a:lnSpc>
                <a:spcPct val="100000"/>
              </a:lnSpc>
            </a:pPr>
            <a:br/>
            <a:r>
              <a:rPr b="0" lang="en-US" sz="1800" spc="-1" strike="noStrike">
                <a:solidFill>
                  <a:srgbClr val="64748b"/>
                </a:solidFill>
                <a:latin typeface="Calibri"/>
                <a:ea typeface="DejaVu Sans"/>
              </a:rPr>
              <a:t>Mitigación: Los proveedores aplican RLHF </a:t>
            </a:r>
            <a:endParaRPr b="0" lang="es-ES" sz="1800" spc="-1" strike="noStrike">
              <a:latin typeface="Arial"/>
            </a:endParaRPr>
          </a:p>
          <a:p>
            <a:pPr>
              <a:lnSpc>
                <a:spcPct val="100000"/>
              </a:lnSpc>
            </a:pPr>
            <a:r>
              <a:rPr b="0" lang="en-US" sz="1800" spc="-1" strike="noStrike">
                <a:solidFill>
                  <a:srgbClr val="64748b"/>
                </a:solidFill>
                <a:latin typeface="Calibri"/>
                <a:ea typeface="DejaVu Sans"/>
              </a:rPr>
              <a:t>(Aprendizaje Reforzado con Humanos) para intentar</a:t>
            </a:r>
            <a:endParaRPr b="0" lang="es-ES" sz="1800" spc="-1" strike="noStrike">
              <a:latin typeface="Arial"/>
            </a:endParaRPr>
          </a:p>
          <a:p>
            <a:pPr>
              <a:lnSpc>
                <a:spcPct val="100000"/>
              </a:lnSpc>
            </a:pPr>
            <a:r>
              <a:rPr b="0" lang="en-US" sz="1800" spc="-1" strike="noStrike">
                <a:solidFill>
                  <a:srgbClr val="64748b"/>
                </a:solidFill>
                <a:latin typeface="Calibri"/>
                <a:ea typeface="DejaVu Sans"/>
              </a:rPr>
              <a:t> </a:t>
            </a:r>
            <a:r>
              <a:rPr b="0" lang="en-US" sz="1800" spc="-1" strike="noStrike">
                <a:solidFill>
                  <a:srgbClr val="64748b"/>
                </a:solidFill>
                <a:latin typeface="Calibri"/>
                <a:ea typeface="DejaVu Sans"/>
              </a:rPr>
              <a:t>enseñarle 'buenos modales' de seguridad a la máquina, </a:t>
            </a:r>
            <a:endParaRPr b="0" lang="es-ES" sz="1800" spc="-1" strike="noStrike">
              <a:latin typeface="Arial"/>
            </a:endParaRPr>
          </a:p>
          <a:p>
            <a:pPr>
              <a:lnSpc>
                <a:spcPct val="100000"/>
              </a:lnSpc>
            </a:pPr>
            <a:r>
              <a:rPr b="0" lang="en-US" sz="1800" spc="-1" strike="noStrike">
                <a:solidFill>
                  <a:srgbClr val="64748b"/>
                </a:solidFill>
                <a:latin typeface="Calibri"/>
                <a:ea typeface="DejaVu Sans"/>
              </a:rPr>
              <a:t>pero no es infalible.</a:t>
            </a:r>
            <a:endParaRPr b="0" lang="es-ES" sz="1800" spc="-1" strike="noStrike">
              <a:latin typeface="Arial"/>
            </a:endParaRPr>
          </a:p>
        </p:txBody>
      </p:sp>
      <p:pic>
        <p:nvPicPr>
          <p:cNvPr id="53" name="" descr=""/>
          <p:cNvPicPr/>
          <p:nvPr/>
        </p:nvPicPr>
        <p:blipFill>
          <a:blip r:embed="rId1"/>
          <a:stretch/>
        </p:blipFill>
        <p:spPr>
          <a:xfrm>
            <a:off x="7048800" y="4319640"/>
            <a:ext cx="4290480" cy="23396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54" name="CustomShape 1"/>
          <p:cNvSpPr/>
          <p:nvPr/>
        </p:nvSpPr>
        <p:spPr>
          <a:xfrm>
            <a:off x="685800" y="457200"/>
            <a:ext cx="10819080" cy="638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El Catálogo de Errores de la IA (Parte 1)</a:t>
            </a:r>
            <a:endParaRPr b="0" lang="es-ES" sz="3600" spc="-1" strike="noStrike">
              <a:latin typeface="Arial"/>
            </a:endParaRPr>
          </a:p>
        </p:txBody>
      </p:sp>
      <p:sp>
        <p:nvSpPr>
          <p:cNvPr id="55" name="CustomShape 2"/>
          <p:cNvSpPr/>
          <p:nvPr/>
        </p:nvSpPr>
        <p:spPr>
          <a:xfrm>
            <a:off x="700560" y="1541160"/>
            <a:ext cx="10819080" cy="313884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f8fafc"/>
                </a:solidFill>
                <a:latin typeface="Calibri"/>
                <a:ea typeface="DejaVu Sans"/>
              </a:rPr>
              <a:t>La IA predice la secuencia de texto más probable, pero no tiene noción del contexto de ciberseguridad. Errores estructurales comunes:</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 </a:t>
            </a:r>
            <a:r>
              <a:rPr b="0" lang="en-US" sz="2000" spc="-1" strike="noStrike">
                <a:solidFill>
                  <a:srgbClr val="f8fafc"/>
                </a:solidFill>
                <a:latin typeface="Calibri"/>
                <a:ea typeface="DejaVu Sans"/>
              </a:rPr>
              <a:t>Inyección de Código/Datos: </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Genera formularios que aceptan texto directo </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del usuario sin filtrarlo o 'sanitizarlo'.</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 </a:t>
            </a:r>
            <a:r>
              <a:rPr b="0" lang="en-US" sz="2000" spc="-1" strike="noStrike">
                <a:solidFill>
                  <a:srgbClr val="f8fafc"/>
                </a:solidFill>
                <a:latin typeface="Calibri"/>
                <a:ea typeface="DejaVu Sans"/>
              </a:rPr>
              <a:t>Secretos Expuestos: Propone código que incluye contraseñas fijas (hardcoded), tokens privados o llaves de API reales extraídas del set de entrenamiento.</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 </a:t>
            </a:r>
            <a:r>
              <a:rPr b="0" lang="en-US" sz="2000" spc="-1" strike="noStrike">
                <a:solidFill>
                  <a:srgbClr val="f8fafc"/>
                </a:solidFill>
                <a:latin typeface="Calibri"/>
                <a:ea typeface="DejaVu Sans"/>
              </a:rPr>
              <a:t>Cifrado Obsoleto: Sugiere algoritmos de encriptación </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rotos (como MD5 o SHA-1) porque aparecen millones de </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veces en manuales viejos de internet.</a:t>
            </a:r>
            <a:endParaRPr b="0" lang="es-ES" sz="2000" spc="-1" strike="noStrike">
              <a:latin typeface="Arial"/>
            </a:endParaRPr>
          </a:p>
        </p:txBody>
      </p:sp>
      <p:pic>
        <p:nvPicPr>
          <p:cNvPr id="56" name="" descr=""/>
          <p:cNvPicPr/>
          <p:nvPr/>
        </p:nvPicPr>
        <p:blipFill>
          <a:blip r:embed="rId1"/>
          <a:stretch/>
        </p:blipFill>
        <p:spPr>
          <a:xfrm>
            <a:off x="6868800" y="3845160"/>
            <a:ext cx="4830840" cy="26344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57" name="CustomShape 1"/>
          <p:cNvSpPr/>
          <p:nvPr/>
        </p:nvSpPr>
        <p:spPr>
          <a:xfrm>
            <a:off x="685800" y="457200"/>
            <a:ext cx="10819080" cy="638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Ataques a la Cadena de Suministro (Parte 2)</a:t>
            </a:r>
            <a:endParaRPr b="0" lang="es-ES" sz="3600" spc="-1" strike="noStrike">
              <a:latin typeface="Arial"/>
            </a:endParaRPr>
          </a:p>
        </p:txBody>
      </p:sp>
      <p:sp>
        <p:nvSpPr>
          <p:cNvPr id="58" name="CustomShape 2"/>
          <p:cNvSpPr/>
          <p:nvPr/>
        </p:nvSpPr>
        <p:spPr>
          <a:xfrm>
            <a:off x="685800" y="1828800"/>
            <a:ext cx="10819080" cy="243720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f8fafc"/>
                </a:solidFill>
                <a:latin typeface="Calibri"/>
                <a:ea typeface="DejaVu Sans"/>
              </a:rPr>
              <a:t>Las alucinaciones de la IA no son solo descuidos graciosos, son un vector de ataque directo:</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Alucinación de Paquetes: La IA inventa de forma convincente una librería o biblioteca que no existe para solucionar tu prompt.</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Typosquatting/Suplantación: Un atacante monitoriza las alucinaciones comunes de modelos públicos, registra el paquete inventado en NPM o PyPI y le inyecta código malicioso corporativo.</a:t>
            </a:r>
            <a:endParaRPr b="0" lang="es-ES" sz="2000" spc="-1" strike="noStrike">
              <a:latin typeface="Arial"/>
            </a:endParaRPr>
          </a:p>
          <a:p>
            <a:pPr>
              <a:lnSpc>
                <a:spcPct val="100000"/>
              </a:lnSpc>
            </a:pPr>
            <a:br/>
            <a:r>
              <a:rPr b="0" lang="en-US" sz="1800" spc="-1" strike="noStrike">
                <a:solidFill>
                  <a:srgbClr val="fbbf24"/>
                </a:solidFill>
                <a:latin typeface="Courier New"/>
                <a:ea typeface="DejaVu Sans"/>
              </a:rPr>
              <a:t>🧠 </a:t>
            </a:r>
            <a:r>
              <a:rPr b="0" lang="en-US" sz="1800" spc="-1" strike="noStrike">
                <a:solidFill>
                  <a:srgbClr val="fbbf24"/>
                </a:solidFill>
                <a:latin typeface="Courier New"/>
                <a:ea typeface="DejaVu Sans"/>
              </a:rPr>
              <a:t>IA alucina librería ──► 🥷 Hacker la registra con código espía ──► 💻 Tu servidor la descarga</a:t>
            </a:r>
            <a:endParaRPr b="0" lang="es-ES" sz="1800" spc="-1" strike="noStrike">
              <a:latin typeface="Arial"/>
            </a:endParaRPr>
          </a:p>
        </p:txBody>
      </p:sp>
      <p:pic>
        <p:nvPicPr>
          <p:cNvPr id="59" name="" descr=""/>
          <p:cNvPicPr/>
          <p:nvPr/>
        </p:nvPicPr>
        <p:blipFill>
          <a:blip r:embed="rId1"/>
          <a:stretch/>
        </p:blipFill>
        <p:spPr>
          <a:xfrm>
            <a:off x="3808800" y="4266360"/>
            <a:ext cx="4290840" cy="23400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60" name="CustomShape 1"/>
          <p:cNvSpPr/>
          <p:nvPr/>
        </p:nvSpPr>
        <p:spPr>
          <a:xfrm>
            <a:off x="685800" y="457200"/>
            <a:ext cx="10819080" cy="638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El Laberinto Legal y la Propiedad Intelectual</a:t>
            </a:r>
            <a:endParaRPr b="0" lang="es-ES" sz="3600" spc="-1" strike="noStrike">
              <a:latin typeface="Arial"/>
            </a:endParaRPr>
          </a:p>
        </p:txBody>
      </p:sp>
      <p:sp>
        <p:nvSpPr>
          <p:cNvPr id="61" name="CustomShape 2"/>
          <p:cNvSpPr/>
          <p:nvPr/>
        </p:nvSpPr>
        <p:spPr>
          <a:xfrm>
            <a:off x="700560" y="1260000"/>
            <a:ext cx="10819080" cy="274212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f8fafc"/>
                </a:solidFill>
                <a:latin typeface="Calibri"/>
                <a:ea typeface="DejaVu Sans"/>
              </a:rPr>
              <a:t>• 🇪🇺 </a:t>
            </a:r>
            <a:r>
              <a:rPr b="0" lang="en-US" sz="2000" spc="-1" strike="noStrike">
                <a:solidFill>
                  <a:srgbClr val="f8fafc"/>
                </a:solidFill>
                <a:latin typeface="Calibri"/>
                <a:ea typeface="DejaVu Sans"/>
              </a:rPr>
              <a:t>Europa (GDPR): Exige una gobernanza de datos estricta, auditorías completas en el procesamiento informático y respeto a los derechos del usuario.</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 </a:t>
            </a:r>
            <a:r>
              <a:rPr b="0" lang="en-US" sz="2000" spc="-1" strike="noStrike">
                <a:solidFill>
                  <a:srgbClr val="f8fafc"/>
                </a:solidFill>
                <a:latin typeface="Calibri"/>
                <a:ea typeface="DejaVu Sans"/>
              </a:rPr>
              <a:t>EE.UU.: Normativas más fragmentadas y orientadas a sectores específicos o regulaciones por estados independientes.</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 </a:t>
            </a:r>
            <a:r>
              <a:rPr b="0" lang="en-US" sz="2000" spc="-1" strike="noStrike">
                <a:solidFill>
                  <a:srgbClr val="f8fafc"/>
                </a:solidFill>
                <a:latin typeface="Calibri"/>
                <a:ea typeface="DejaVu Sans"/>
              </a:rPr>
              <a:t>Riesgo de Licencias (Copyleft / GPL): Si la IA te copia un bloque exacto de código con licencias restrictivas y lo usas en un producto comercial cerrado, podrías infringir la ley de propiedad intelectual.</a:t>
            </a:r>
            <a:endParaRPr b="0" lang="es-ES" sz="2000" spc="-1" strike="noStrike">
              <a:latin typeface="Arial"/>
            </a:endParaRPr>
          </a:p>
          <a:p>
            <a:pPr>
              <a:lnSpc>
                <a:spcPct val="100000"/>
              </a:lnSpc>
            </a:pPr>
            <a:br/>
            <a:r>
              <a:rPr b="1" lang="en-US" sz="1800" spc="-1" strike="noStrike">
                <a:solidFill>
                  <a:srgbClr val="fbbf24"/>
                </a:solidFill>
                <a:latin typeface="Calibri"/>
                <a:ea typeface="DejaVu Sans"/>
              </a:rPr>
              <a:t>La infracción de licencias Copyleft puede obligar legalmente a una organización a abrir y regalar todo su código propietario al público de forma gratuita.</a:t>
            </a:r>
            <a:endParaRPr b="0" lang="es-ES" sz="1800" spc="-1" strike="noStrike">
              <a:latin typeface="Arial"/>
            </a:endParaRPr>
          </a:p>
        </p:txBody>
      </p:sp>
      <p:pic>
        <p:nvPicPr>
          <p:cNvPr id="62" name="" descr=""/>
          <p:cNvPicPr/>
          <p:nvPr/>
        </p:nvPicPr>
        <p:blipFill>
          <a:blip r:embed="rId1"/>
          <a:stretch/>
        </p:blipFill>
        <p:spPr>
          <a:xfrm>
            <a:off x="5940000" y="3911400"/>
            <a:ext cx="5039640" cy="27482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63" name="CustomShape 1"/>
          <p:cNvSpPr/>
          <p:nvPr/>
        </p:nvSpPr>
        <p:spPr>
          <a:xfrm>
            <a:off x="685800" y="457200"/>
            <a:ext cx="10819080" cy="638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Public Prompts &amp; Real-World Breaches</a:t>
            </a:r>
            <a:endParaRPr b="0" lang="es-ES" sz="3600" spc="-1" strike="noStrike">
              <a:latin typeface="Arial"/>
            </a:endParaRPr>
          </a:p>
        </p:txBody>
      </p:sp>
      <p:sp>
        <p:nvSpPr>
          <p:cNvPr id="64" name="CustomShape 2"/>
          <p:cNvSpPr/>
          <p:nvPr/>
        </p:nvSpPr>
        <p:spPr>
          <a:xfrm>
            <a:off x="720000" y="1440000"/>
            <a:ext cx="10819080" cy="350352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The Public Prompt Threat: Copy-pasting internal corporate software or infrastructure layouts into free AI engines causes permanent Data Leakage.</a:t>
            </a:r>
            <a:endParaRPr b="0" lang="es-ES" sz="2000" spc="-1" strike="noStrike">
              <a:latin typeface="Arial"/>
            </a:endParaRPr>
          </a:p>
          <a:p>
            <a:pPr>
              <a:lnSpc>
                <a:spcPct val="100000"/>
              </a:lnSpc>
            </a:pPr>
            <a:br/>
            <a:r>
              <a:rPr b="1" lang="en-US" sz="2200" spc="-1" strike="noStrike">
                <a:solidFill>
                  <a:srgbClr val="38bdf8"/>
                </a:solidFill>
                <a:latin typeface="Calibri"/>
                <a:ea typeface="DejaVu Sans"/>
              </a:rPr>
              <a:t>⚠️ </a:t>
            </a:r>
            <a:r>
              <a:rPr b="1" lang="en-US" sz="2200" spc="-1" strike="noStrike">
                <a:solidFill>
                  <a:srgbClr val="38bdf8"/>
                </a:solidFill>
                <a:latin typeface="Calibri"/>
                <a:ea typeface="DejaVu Sans"/>
              </a:rPr>
              <a:t>Shadow AI Pipeline (Real Cases):</a:t>
            </a:r>
            <a:endParaRPr b="0" lang="es-ES" sz="2200" spc="-1" strike="noStrike">
              <a:latin typeface="Arial"/>
            </a:endParaRPr>
          </a:p>
          <a:p>
            <a:pPr>
              <a:lnSpc>
                <a:spcPct val="100000"/>
              </a:lnSpc>
            </a:pPr>
            <a:r>
              <a:rPr b="0" lang="en-US" sz="1800" spc="-1" strike="noStrike">
                <a:solidFill>
                  <a:srgbClr val="fbbf24"/>
                </a:solidFill>
                <a:latin typeface="Courier New"/>
                <a:ea typeface="DejaVu Sans"/>
              </a:rPr>
              <a:t>  🏢 </a:t>
            </a:r>
            <a:r>
              <a:rPr b="0" lang="en-US" sz="1800" spc="-1" strike="noStrike">
                <a:solidFill>
                  <a:srgbClr val="fbbf24"/>
                </a:solidFill>
                <a:latin typeface="Courier New"/>
                <a:ea typeface="DejaVu Sans"/>
              </a:rPr>
              <a:t>[ Samsung Incident ] ───► Leaked semiconductor blueprints via ChatGPT.</a:t>
            </a:r>
            <a:br/>
            <a:r>
              <a:rPr b="0" lang="en-US" sz="1800" spc="-1" strike="noStrike">
                <a:solidFill>
                  <a:srgbClr val="fbbf24"/>
                </a:solidFill>
                <a:latin typeface="Courier New"/>
                <a:ea typeface="DejaVu Sans"/>
              </a:rPr>
              <a:t>  🏥 [ Medical Sector ]    ───► Doctors paste sensitive patient records for summaries.</a:t>
            </a:r>
            <a:br/>
            <a:r>
              <a:rPr b="0" lang="en-US" sz="1800" spc="-1" strike="noStrike">
                <a:solidFill>
                  <a:srgbClr val="fbbf24"/>
                </a:solidFill>
                <a:latin typeface="Courier New"/>
                <a:ea typeface="DejaVu Sans"/>
              </a:rPr>
              <a:t>  👮 [ Law Enforcement ]   ───► Agents paste confidential profiles to write reports.</a:t>
            </a:r>
            <a:endParaRPr b="0" lang="es-ES" sz="1800" spc="-1" strike="noStrike">
              <a:latin typeface="Arial"/>
            </a:endParaRPr>
          </a:p>
          <a:p>
            <a:pPr>
              <a:lnSpc>
                <a:spcPct val="100000"/>
              </a:lnSpc>
            </a:pPr>
            <a:br/>
            <a:r>
              <a:rPr b="0" lang="en-US" sz="1800" spc="-1" strike="noStrike">
                <a:solidFill>
                  <a:srgbClr val="64748b"/>
                </a:solidFill>
                <a:latin typeface="Calibri"/>
                <a:ea typeface="DejaVu Sans"/>
              </a:rPr>
              <a:t>The Result: Well-intentioned staff creating unmonitored </a:t>
            </a:r>
            <a:endParaRPr b="0" lang="es-ES" sz="1800" spc="-1" strike="noStrike">
              <a:latin typeface="Arial"/>
            </a:endParaRPr>
          </a:p>
          <a:p>
            <a:pPr>
              <a:lnSpc>
                <a:spcPct val="100000"/>
              </a:lnSpc>
            </a:pPr>
            <a:r>
              <a:rPr b="0" lang="en-US" sz="1800" spc="-1" strike="noStrike">
                <a:solidFill>
                  <a:srgbClr val="64748b"/>
                </a:solidFill>
                <a:latin typeface="Calibri"/>
                <a:ea typeface="DejaVu Sans"/>
              </a:rPr>
              <a:t>security leaks outside the perimeter.</a:t>
            </a:r>
            <a:endParaRPr b="0" lang="es-ES" sz="1800" spc="-1" strike="noStrike">
              <a:latin typeface="Arial"/>
            </a:endParaRPr>
          </a:p>
        </p:txBody>
      </p:sp>
      <p:pic>
        <p:nvPicPr>
          <p:cNvPr id="65" name="" descr=""/>
          <p:cNvPicPr/>
          <p:nvPr/>
        </p:nvPicPr>
        <p:blipFill>
          <a:blip r:embed="rId1"/>
          <a:stretch/>
        </p:blipFill>
        <p:spPr>
          <a:xfrm>
            <a:off x="6480000" y="3960000"/>
            <a:ext cx="4950360" cy="269964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66" name="CustomShape 1"/>
          <p:cNvSpPr/>
          <p:nvPr/>
        </p:nvSpPr>
        <p:spPr>
          <a:xfrm>
            <a:off x="685800" y="457200"/>
            <a:ext cx="10819080" cy="112572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200" spc="-1" strike="noStrike">
                <a:solidFill>
                  <a:srgbClr val="38bdf8"/>
                </a:solidFill>
                <a:latin typeface="Arial"/>
                <a:ea typeface="DejaVu Sans"/>
              </a:rPr>
              <a:t>The human Cost: Consequences of Sensitive Data    </a:t>
            </a:r>
            <a:r>
              <a:rPr b="1" lang="en-US" sz="3200" spc="-1" strike="noStrike">
                <a:solidFill>
                  <a:srgbClr val="38bdf8"/>
                </a:solidFill>
                <a:latin typeface="Arial"/>
                <a:ea typeface="DejaVu Sans"/>
              </a:rPr>
              <a:t>	</a:t>
            </a:r>
            <a:r>
              <a:rPr b="1" lang="en-US" sz="3200" spc="-1" strike="noStrike">
                <a:solidFill>
                  <a:srgbClr val="38bdf8"/>
                </a:solidFill>
                <a:latin typeface="Arial"/>
                <a:ea typeface="DejaVu Sans"/>
              </a:rPr>
              <a:t>  leaks</a:t>
            </a:r>
            <a:endParaRPr b="0" lang="es-ES" sz="3200" spc="-1" strike="noStrike">
              <a:latin typeface="Arial"/>
            </a:endParaRPr>
          </a:p>
        </p:txBody>
      </p:sp>
      <p:sp>
        <p:nvSpPr>
          <p:cNvPr id="67" name="CustomShape 2"/>
          <p:cNvSpPr/>
          <p:nvPr/>
        </p:nvSpPr>
        <p:spPr>
          <a:xfrm>
            <a:off x="720000" y="1649880"/>
            <a:ext cx="10819080" cy="1888920"/>
          </a:xfrm>
          <a:prstGeom prst="rect">
            <a:avLst/>
          </a:prstGeom>
          <a:noFill/>
          <a:ln w="0">
            <a:noFill/>
          </a:ln>
        </p:spPr>
        <p:style>
          <a:lnRef idx="0"/>
          <a:fillRef idx="0"/>
          <a:effectRef idx="0"/>
          <a:fontRef idx="minor"/>
        </p:style>
        <p:txBody>
          <a:bodyPr lIns="90000" rIns="90000" tIns="45000" bIns="45000">
            <a:spAutoFit/>
          </a:bodyPr>
          <a:p>
            <a:pPr>
              <a:lnSpc>
                <a:spcPct val="100000"/>
              </a:lnSpc>
            </a:pPr>
            <a:endParaRPr b="0" lang="es-ES" sz="18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Financial Fraud: Direct drain of bank accounts and credit identity theft.</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Workplace Discrimination: Employment rejection based on leaked private data.</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Social Profiling: Automated categorization by medical history, social class, and private life.</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Systemic Exclusion: Being banned from insurance policies or financial loans.</a:t>
            </a:r>
            <a:br/>
            <a:endParaRPr b="0" lang="es-ES" sz="2000" spc="-1" strike="noStrike">
              <a:latin typeface="Arial"/>
            </a:endParaRPr>
          </a:p>
        </p:txBody>
      </p:sp>
      <p:pic>
        <p:nvPicPr>
          <p:cNvPr id="68" name="" descr=""/>
          <p:cNvPicPr/>
          <p:nvPr/>
        </p:nvPicPr>
        <p:blipFill>
          <a:blip r:embed="rId1"/>
          <a:stretch/>
        </p:blipFill>
        <p:spPr>
          <a:xfrm>
            <a:off x="2340000" y="3437640"/>
            <a:ext cx="5907240" cy="32220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69" name="CustomShape 1"/>
          <p:cNvSpPr/>
          <p:nvPr/>
        </p:nvSpPr>
        <p:spPr>
          <a:xfrm>
            <a:off x="685800" y="457200"/>
            <a:ext cx="10819080" cy="638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GDPR Compliance &amp; Prevention Strategy</a:t>
            </a:r>
            <a:endParaRPr b="0" lang="es-ES" sz="3600" spc="-1" strike="noStrike">
              <a:latin typeface="Arial"/>
            </a:endParaRPr>
          </a:p>
        </p:txBody>
      </p:sp>
      <p:sp>
        <p:nvSpPr>
          <p:cNvPr id="70" name="CustomShape 2"/>
          <p:cNvSpPr/>
          <p:nvPr/>
        </p:nvSpPr>
        <p:spPr>
          <a:xfrm>
            <a:off x="720000" y="1440000"/>
            <a:ext cx="10819080" cy="240660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GDPR Article 9: Special categories of data (health, biometric, state security) require localized isolation and strict protection frameworks.</a:t>
            </a:r>
            <a:endParaRPr b="0" lang="es-ES" sz="2000" spc="-1" strike="noStrike">
              <a:latin typeface="Arial"/>
            </a:endParaRPr>
          </a:p>
          <a:p>
            <a:pPr>
              <a:lnSpc>
                <a:spcPct val="100000"/>
              </a:lnSpc>
            </a:pPr>
            <a:br/>
            <a:r>
              <a:rPr b="1" lang="en-US" sz="2200" spc="-1" strike="noStrike">
                <a:solidFill>
                  <a:srgbClr val="38bdf8"/>
                </a:solidFill>
                <a:latin typeface="Calibri"/>
                <a:ea typeface="DejaVu Sans"/>
              </a:rPr>
              <a:t>The Technical Prevention Stack:</a:t>
            </a:r>
            <a:endParaRPr b="0" lang="es-ES" sz="2200" spc="-1" strike="noStrike">
              <a:latin typeface="Arial"/>
            </a:endParaRPr>
          </a:p>
          <a:p>
            <a:pPr>
              <a:lnSpc>
                <a:spcPct val="100000"/>
              </a:lnSpc>
            </a:pPr>
            <a:r>
              <a:rPr b="0" lang="en-US" sz="1800" spc="-1" strike="noStrike">
                <a:solidFill>
                  <a:srgbClr val="fbbf24"/>
                </a:solidFill>
                <a:latin typeface="Courier New"/>
                <a:ea typeface="DejaVu Sans"/>
              </a:rPr>
              <a:t>  📋 </a:t>
            </a:r>
            <a:r>
              <a:rPr b="0" lang="en-US" sz="1800" spc="-1" strike="noStrike">
                <a:solidFill>
                  <a:srgbClr val="fbbf24"/>
                </a:solidFill>
                <a:latin typeface="Courier New"/>
                <a:ea typeface="DejaVu Sans"/>
              </a:rPr>
              <a:t>[ CLIPBOARD ] ──► 1. DLP (Blocks Public Copy-Paste)</a:t>
            </a:r>
            <a:br/>
            <a:r>
              <a:rPr b="0" lang="en-US" sz="1800" spc="-1" strike="noStrike">
                <a:solidFill>
                  <a:srgbClr val="fbbf24"/>
                </a:solidFill>
                <a:latin typeface="Courier New"/>
                <a:ea typeface="DejaVu Sans"/>
              </a:rPr>
              <a:t>                       └──► 2. DATA MASKING (Fakes Names/PII)</a:t>
            </a:r>
            <a:br/>
            <a:r>
              <a:rPr b="0" lang="en-US" sz="1800" spc="-1" strike="noStrike">
                <a:solidFill>
                  <a:srgbClr val="fbbf24"/>
                </a:solidFill>
                <a:latin typeface="Courier New"/>
                <a:ea typeface="DejaVu Sans"/>
              </a:rPr>
              <a:t>                               └──► 3. LOCAL ENGINES (100% Offline ARX/Presidio)</a:t>
            </a:r>
            <a:endParaRPr b="0" lang="es-ES" sz="1800" spc="-1" strike="noStrike">
              <a:latin typeface="Arial"/>
            </a:endParaRPr>
          </a:p>
        </p:txBody>
      </p:sp>
      <p:pic>
        <p:nvPicPr>
          <p:cNvPr id="71" name="" descr=""/>
          <p:cNvPicPr/>
          <p:nvPr/>
        </p:nvPicPr>
        <p:blipFill>
          <a:blip r:embed="rId1"/>
          <a:stretch/>
        </p:blipFill>
        <p:spPr>
          <a:xfrm>
            <a:off x="6480000" y="3633480"/>
            <a:ext cx="5219640" cy="28465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72" name="CustomShape 1"/>
          <p:cNvSpPr/>
          <p:nvPr/>
        </p:nvSpPr>
        <p:spPr>
          <a:xfrm>
            <a:off x="685800" y="457200"/>
            <a:ext cx="10819080" cy="638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DLP Solutions: Types &amp; Architecture</a:t>
            </a:r>
            <a:endParaRPr b="0" lang="es-ES" sz="3600" spc="-1" strike="noStrike">
              <a:latin typeface="Arial"/>
            </a:endParaRPr>
          </a:p>
        </p:txBody>
      </p:sp>
      <p:sp>
        <p:nvSpPr>
          <p:cNvPr id="73" name="CustomShape 2"/>
          <p:cNvSpPr/>
          <p:nvPr/>
        </p:nvSpPr>
        <p:spPr>
          <a:xfrm>
            <a:off x="720000" y="1440000"/>
            <a:ext cx="10819080" cy="435852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Endpoint DLP: Local device agents (laptops/desktops) that monitor the clipboard, printing, and USB transfers.</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Network DLP: Inspects data-in-motion across network protocols (SMTP, HTTP/S, FTP) at the company perimeter.</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Cloud DLP: Protects IaaS buckets, SaaS apps, and API pipelines against unauthorized data exposure.</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Prevented Threats: Internal insider threats, unintentional clipboard copy-paste to public AI, and data exfiltration.</a:t>
            </a:r>
            <a:endParaRPr b="0" lang="es-ES" sz="2000" spc="-1" strike="noStrike">
              <a:latin typeface="Arial"/>
            </a:endParaRPr>
          </a:p>
          <a:p>
            <a:pPr>
              <a:lnSpc>
                <a:spcPct val="100000"/>
              </a:lnSpc>
            </a:pPr>
            <a:endParaRPr b="0" lang="es-ES" sz="2000" spc="-1" strike="noStrike">
              <a:latin typeface="Arial"/>
            </a:endParaRPr>
          </a:p>
          <a:p>
            <a:pPr>
              <a:lnSpc>
                <a:spcPct val="100000"/>
              </a:lnSpc>
            </a:pPr>
            <a:r>
              <a:rPr b="0" lang="en-US" sz="2000" spc="-1" strike="noStrike">
                <a:solidFill>
                  <a:srgbClr val="f8fafc"/>
                </a:solidFill>
                <a:latin typeface="Calibri"/>
                <a:ea typeface="DejaVu Sans"/>
              </a:rPr>
              <a:t>Industry Software: </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Microsoft Purview DLP, </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Forcepoint DLP, </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Symantec (Broadcom), </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Netskope.</a:t>
            </a:r>
            <a:br/>
            <a:endParaRPr b="0" lang="es-ES" sz="2000" spc="-1" strike="noStrike">
              <a:latin typeface="Arial"/>
            </a:endParaRPr>
          </a:p>
        </p:txBody>
      </p:sp>
      <p:pic>
        <p:nvPicPr>
          <p:cNvPr id="74" name="" descr=""/>
          <p:cNvPicPr/>
          <p:nvPr/>
        </p:nvPicPr>
        <p:blipFill>
          <a:blip r:embed="rId1"/>
          <a:stretch/>
        </p:blipFill>
        <p:spPr>
          <a:xfrm>
            <a:off x="6120000" y="3436560"/>
            <a:ext cx="5579640" cy="30430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75" name="CustomShape 1"/>
          <p:cNvSpPr/>
          <p:nvPr/>
        </p:nvSpPr>
        <p:spPr>
          <a:xfrm>
            <a:off x="685800" y="457200"/>
            <a:ext cx="10819080" cy="638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Data Masking: Structural Privacy Methods</a:t>
            </a:r>
            <a:endParaRPr b="0" lang="es-ES" sz="3600" spc="-1" strike="noStrike">
              <a:latin typeface="Arial"/>
            </a:endParaRPr>
          </a:p>
        </p:txBody>
      </p:sp>
      <p:sp>
        <p:nvSpPr>
          <p:cNvPr id="76" name="CustomShape 2"/>
          <p:cNvSpPr/>
          <p:nvPr/>
        </p:nvSpPr>
        <p:spPr>
          <a:xfrm>
            <a:off x="720000" y="1440000"/>
            <a:ext cx="10819080" cy="435852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Static Data Masking (SDM): Permanently alters data at rest on database copies used for testing or training. Irreversible.</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Dynamic Data Masking (DDM): Masks sensitive fields in transit in real-time based on the user's role without changing the disk.</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On-The-Fly Masking (OFM): Sanitizes data as it moves from production environments to sandbox environments through processing streams.</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Variance / Date Shifting: Changing dates or financial figures by a random mathematical percentage to protect identity.</a:t>
            </a:r>
            <a:endParaRPr b="0" lang="es-ES" sz="2000" spc="-1" strike="noStrike">
              <a:latin typeface="Arial"/>
            </a:endParaRPr>
          </a:p>
          <a:p>
            <a:pPr>
              <a:lnSpc>
                <a:spcPct val="100000"/>
              </a:lnSpc>
            </a:pPr>
            <a:endParaRPr b="0" lang="es-ES" sz="2000" spc="-1" strike="noStrike">
              <a:latin typeface="Arial"/>
            </a:endParaRPr>
          </a:p>
          <a:p>
            <a:pPr>
              <a:lnSpc>
                <a:spcPct val="100000"/>
              </a:lnSpc>
            </a:pPr>
            <a:r>
              <a:rPr b="0" lang="en-US" sz="2000" spc="-1" strike="noStrike">
                <a:solidFill>
                  <a:srgbClr val="f8fafc"/>
                </a:solidFill>
                <a:latin typeface="Calibri"/>
                <a:ea typeface="DejaVu Sans"/>
              </a:rPr>
              <a:t>Common Software: Perforce Delphix,</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Mage Data Platform,</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Informatica Cloud Data Masking, </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native Azure/Oracle SQL engines.</a:t>
            </a:r>
            <a:br/>
            <a:endParaRPr b="0" lang="es-ES" sz="2000" spc="-1" strike="noStrike">
              <a:latin typeface="Arial"/>
            </a:endParaRPr>
          </a:p>
        </p:txBody>
      </p:sp>
      <p:pic>
        <p:nvPicPr>
          <p:cNvPr id="77" name="" descr=""/>
          <p:cNvPicPr/>
          <p:nvPr/>
        </p:nvPicPr>
        <p:blipFill>
          <a:blip r:embed="rId1"/>
          <a:stretch/>
        </p:blipFill>
        <p:spPr>
          <a:xfrm>
            <a:off x="5819760" y="3665160"/>
            <a:ext cx="5491080" cy="29944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78" name="CustomShape 1"/>
          <p:cNvSpPr/>
          <p:nvPr/>
        </p:nvSpPr>
        <p:spPr>
          <a:xfrm>
            <a:off x="685800" y="457200"/>
            <a:ext cx="10819080" cy="118692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Cómo Enfrentar el Problema: El Pipeline de Seguridad</a:t>
            </a:r>
            <a:endParaRPr b="0" lang="es-ES" sz="3600" spc="-1" strike="noStrike">
              <a:latin typeface="Arial"/>
            </a:endParaRPr>
          </a:p>
        </p:txBody>
      </p:sp>
      <p:sp>
        <p:nvSpPr>
          <p:cNvPr id="79" name="CustomShape 2"/>
          <p:cNvSpPr/>
          <p:nvPr/>
        </p:nvSpPr>
        <p:spPr>
          <a:xfrm>
            <a:off x="685800" y="1828800"/>
            <a:ext cx="10819080" cy="326016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f8fafc"/>
                </a:solidFill>
                <a:latin typeface="Calibri"/>
                <a:ea typeface="DejaVu Sans"/>
              </a:rPr>
              <a:t>El escudo automatizado que debe implementarse en la empresa:</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Pruebas SAST: Analizadores estáticos que leen el código línea por línea buscando fallos conocidos de seguridad.</a:t>
            </a:r>
            <a:endParaRPr b="0" lang="es-ES" sz="2000" spc="-1" strike="noStrike">
              <a:latin typeface="Arial"/>
            </a:endParaRPr>
          </a:p>
          <a:p>
            <a:pPr>
              <a:lnSpc>
                <a:spcPct val="100000"/>
              </a:lnSpc>
            </a:pP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Pruebas SCA: Escáneres que comprueban la reputación, versiones y licencias de todas las librerías de NPM o PyPI sugeridas por la IA.</a:t>
            </a:r>
            <a:endParaRPr b="0" lang="es-ES" sz="2000" spc="-1" strike="noStrike">
              <a:latin typeface="Arial"/>
            </a:endParaRPr>
          </a:p>
          <a:p>
            <a:pPr>
              <a:lnSpc>
                <a:spcPct val="100000"/>
              </a:lnSpc>
            </a:pPr>
            <a:br/>
            <a:r>
              <a:rPr b="0" lang="en-US" sz="1800" spc="-1" strike="noStrike">
                <a:solidFill>
                  <a:srgbClr val="fbbf24"/>
                </a:solidFill>
                <a:latin typeface="Courier New"/>
                <a:ea typeface="DejaVu Sans"/>
              </a:rPr>
              <a:t>💻 </a:t>
            </a:r>
            <a:r>
              <a:rPr b="0" lang="en-US" sz="1800" spc="-1" strike="noStrike">
                <a:solidFill>
                  <a:srgbClr val="fbbf24"/>
                </a:solidFill>
                <a:latin typeface="Courier New"/>
                <a:ea typeface="DejaVu Sans"/>
              </a:rPr>
              <a:t>Código IA ──► 🔍 SAST (Texto) ──► 📦 SCA (Librerías) ──► ⚙️ Pruebas de Lógica ──► 🚀 Producción</a:t>
            </a:r>
            <a:endParaRPr b="0" lang="es-ES" sz="1800" spc="-1" strike="noStrike">
              <a:latin typeface="Arial"/>
            </a:endParaRPr>
          </a:p>
          <a:p>
            <a:pPr>
              <a:lnSpc>
                <a:spcPct val="100000"/>
              </a:lnSpc>
            </a:pPr>
            <a:br/>
            <a:r>
              <a:rPr b="0" lang="en-US" sz="1800" spc="-1" strike="noStrike">
                <a:solidFill>
                  <a:srgbClr val="64748b"/>
                </a:solidFill>
                <a:latin typeface="Calibri"/>
                <a:ea typeface="DejaVu Sans"/>
              </a:rPr>
              <a:t>Garantías: Software como SonarQube o Snyk operan</a:t>
            </a:r>
            <a:endParaRPr b="0" lang="es-ES" sz="1800" spc="-1" strike="noStrike">
              <a:latin typeface="Arial"/>
            </a:endParaRPr>
          </a:p>
          <a:p>
            <a:pPr>
              <a:lnSpc>
                <a:spcPct val="100000"/>
              </a:lnSpc>
            </a:pPr>
            <a:r>
              <a:rPr b="0" lang="en-US" sz="1800" spc="-1" strike="noStrike">
                <a:solidFill>
                  <a:srgbClr val="64748b"/>
                </a:solidFill>
                <a:latin typeface="Calibri"/>
                <a:ea typeface="DejaVu Sans"/>
              </a:rPr>
              <a:t> </a:t>
            </a:r>
            <a:r>
              <a:rPr b="0" lang="en-US" sz="1800" spc="-1" strike="noStrike">
                <a:solidFill>
                  <a:srgbClr val="64748b"/>
                </a:solidFill>
                <a:latin typeface="Calibri"/>
                <a:ea typeface="DejaVu Sans"/>
              </a:rPr>
              <a:t>de forma local (On-Premise) bajo auditorías ISO 27001 y SOC 2.</a:t>
            </a:r>
            <a:endParaRPr b="0" lang="es-ES" sz="1800" spc="-1" strike="noStrike">
              <a:latin typeface="Arial"/>
            </a:endParaRPr>
          </a:p>
        </p:txBody>
      </p:sp>
      <p:pic>
        <p:nvPicPr>
          <p:cNvPr id="80" name="" descr=""/>
          <p:cNvPicPr/>
          <p:nvPr/>
        </p:nvPicPr>
        <p:blipFill>
          <a:blip r:embed="rId1"/>
          <a:stretch/>
        </p:blipFill>
        <p:spPr>
          <a:xfrm>
            <a:off x="7048800" y="4123440"/>
            <a:ext cx="4650840" cy="253620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81" name="CustomShape 1"/>
          <p:cNvSpPr/>
          <p:nvPr/>
        </p:nvSpPr>
        <p:spPr>
          <a:xfrm>
            <a:off x="685800" y="457200"/>
            <a:ext cx="10819080" cy="118692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SAST en Acción: El Escáner Automatizado (Parte 1)</a:t>
            </a:r>
            <a:endParaRPr b="0" lang="es-ES" sz="3600" spc="-1" strike="noStrike">
              <a:latin typeface="Arial"/>
            </a:endParaRPr>
          </a:p>
        </p:txBody>
      </p:sp>
      <p:sp>
        <p:nvSpPr>
          <p:cNvPr id="82" name="CustomShape 2"/>
          <p:cNvSpPr/>
          <p:nvPr/>
        </p:nvSpPr>
        <p:spPr>
          <a:xfrm>
            <a:off x="685800" y="1828800"/>
            <a:ext cx="10819080" cy="261972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f8fafc"/>
                </a:solidFill>
                <a:latin typeface="Calibri"/>
                <a:ea typeface="DejaVu Sans"/>
              </a:rPr>
              <a:t>Imaginemos el SAST como el corrector ortográfico de Word, pero especializado en vulnerabilidades informáticas.</a:t>
            </a:r>
            <a:endParaRPr b="0" lang="es-ES" sz="2000" spc="-1" strike="noStrike">
              <a:latin typeface="Arial"/>
            </a:endParaRPr>
          </a:p>
          <a:p>
            <a:pPr>
              <a:lnSpc>
                <a:spcPct val="100000"/>
              </a:lnSpc>
            </a:pPr>
            <a:br/>
            <a:r>
              <a:rPr b="1" lang="en-US" sz="1800" spc="-1" strike="noStrike">
                <a:solidFill>
                  <a:srgbClr val="38bdf8"/>
                </a:solidFill>
                <a:latin typeface="Calibri"/>
                <a:ea typeface="DejaVu Sans"/>
              </a:rPr>
              <a:t>El Código Inseguro entregado por la IA:</a:t>
            </a:r>
            <a:endParaRPr b="0" lang="es-ES" sz="1800" spc="-1" strike="noStrike">
              <a:latin typeface="Arial"/>
            </a:endParaRPr>
          </a:p>
          <a:p>
            <a:pPr>
              <a:lnSpc>
                <a:spcPct val="100000"/>
              </a:lnSpc>
            </a:pPr>
            <a:r>
              <a:rPr b="0" lang="en-US" sz="1800" spc="-1" strike="noStrike">
                <a:solidFill>
                  <a:srgbClr val="f43f5e"/>
                </a:solidFill>
                <a:latin typeface="Courier New"/>
                <a:ea typeface="DejaVu Sans"/>
              </a:rPr>
              <a:t>  </a:t>
            </a:r>
            <a:r>
              <a:rPr b="0" lang="en-US" sz="1800" spc="-1" strike="noStrike">
                <a:solidFill>
                  <a:srgbClr val="f43f5e"/>
                </a:solidFill>
                <a:latin typeface="Courier New"/>
                <a:ea typeface="DejaVu Sans"/>
              </a:rPr>
              <a:t>SELECT * FROM usuarios WHERE nombre = ' + input_usuario_directo</a:t>
            </a:r>
            <a:endParaRPr b="0" lang="es-ES" sz="1800" spc="-1" strike="noStrike">
              <a:latin typeface="Arial"/>
            </a:endParaRPr>
          </a:p>
          <a:p>
            <a:pPr>
              <a:lnSpc>
                <a:spcPct val="100000"/>
              </a:lnSpc>
            </a:pPr>
            <a:br/>
            <a:r>
              <a:rPr b="0" lang="en-US" sz="1800" spc="-1" strike="noStrike">
                <a:solidFill>
                  <a:srgbClr val="f8fafc"/>
                </a:solidFill>
                <a:latin typeface="Calibri"/>
                <a:ea typeface="DejaVu Sans"/>
              </a:rPr>
              <a:t>• </a:t>
            </a:r>
            <a:r>
              <a:rPr b="0" lang="en-US" sz="1800" spc="-1" strike="noStrike">
                <a:solidFill>
                  <a:srgbClr val="f8fafc"/>
                </a:solidFill>
                <a:latin typeface="Calibri"/>
                <a:ea typeface="DejaVu Sans"/>
              </a:rPr>
              <a:t>Diagnóstico del SAST: Detecta un fallo crítico de Inyección SQL. Si un hacker escribe código malicioso en el cuadro de texto, toma el control de la base de datos. (lo que viene detras del + será una orden para el sistema)</a:t>
            </a:r>
            <a:endParaRPr b="0" lang="es-ES" sz="1800" spc="-1" strike="noStrike">
              <a:latin typeface="Arial"/>
            </a:endParaRPr>
          </a:p>
          <a:p>
            <a:pPr>
              <a:lnSpc>
                <a:spcPct val="100000"/>
              </a:lnSpc>
            </a:pPr>
            <a:r>
              <a:rPr b="0" lang="en-US" sz="1800" spc="-1" strike="noStrike">
                <a:solidFill>
                  <a:srgbClr val="fbbf24"/>
                </a:solidFill>
                <a:latin typeface="Calibri"/>
                <a:ea typeface="DejaVu Sans"/>
              </a:rPr>
              <a:t> • </a:t>
            </a:r>
            <a:r>
              <a:rPr b="0" lang="en-US" sz="1800" spc="-1" strike="noStrike">
                <a:solidFill>
                  <a:srgbClr val="fbbf24"/>
                </a:solidFill>
                <a:latin typeface="Calibri"/>
                <a:ea typeface="DejaVu Sans"/>
              </a:rPr>
              <a:t>Acción: El software de seguridad detiene la integración y bloquea el despliegue automático.</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83" name="CustomShape 1"/>
          <p:cNvSpPr/>
          <p:nvPr/>
        </p:nvSpPr>
        <p:spPr>
          <a:xfrm>
            <a:off x="685800" y="457200"/>
            <a:ext cx="10819080" cy="118692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La Revisión por Pares: El Filtro Humano (Parte 2)</a:t>
            </a:r>
            <a:endParaRPr b="0" lang="es-ES" sz="3600" spc="-1" strike="noStrike">
              <a:latin typeface="Arial"/>
            </a:endParaRPr>
          </a:p>
        </p:txBody>
      </p:sp>
      <p:sp>
        <p:nvSpPr>
          <p:cNvPr id="84" name="CustomShape 2"/>
          <p:cNvSpPr/>
          <p:nvPr/>
        </p:nvSpPr>
        <p:spPr>
          <a:xfrm>
            <a:off x="685800" y="1828800"/>
            <a:ext cx="10819080" cy="254340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f8fafc"/>
                </a:solidFill>
                <a:latin typeface="Calibri"/>
                <a:ea typeface="DejaVu Sans"/>
              </a:rPr>
              <a:t>Las herramientas automáticas salvan vidas, pero la última aduana es siempre humana.</a:t>
            </a:r>
            <a:endParaRPr b="0" lang="es-ES" sz="2000" spc="-1" strike="noStrike">
              <a:latin typeface="Arial"/>
            </a:endParaRPr>
          </a:p>
          <a:p>
            <a:pPr>
              <a:lnSpc>
                <a:spcPct val="100000"/>
              </a:lnSpc>
            </a:pPr>
            <a:br/>
            <a:r>
              <a:rPr b="1" lang="en-US" sz="1800" spc="-1" strike="noStrike">
                <a:solidFill>
                  <a:srgbClr val="38bdf8"/>
                </a:solidFill>
                <a:latin typeface="Calibri"/>
                <a:ea typeface="DejaVu Sans"/>
              </a:rPr>
              <a:t>El Código Corregido y Aprobado (Peer Review):</a:t>
            </a:r>
            <a:endParaRPr b="0" lang="es-ES" sz="1800" spc="-1" strike="noStrike">
              <a:latin typeface="Arial"/>
            </a:endParaRPr>
          </a:p>
          <a:p>
            <a:pPr>
              <a:lnSpc>
                <a:spcPct val="100000"/>
              </a:lnSpc>
            </a:pPr>
            <a:r>
              <a:rPr b="0" lang="en-US" sz="1800" spc="-1" strike="noStrike">
                <a:solidFill>
                  <a:srgbClr val="22c55e"/>
                </a:solidFill>
                <a:latin typeface="Courier New"/>
                <a:ea typeface="DejaVu Sans"/>
              </a:rPr>
              <a:t>  </a:t>
            </a:r>
            <a:r>
              <a:rPr b="0" lang="en-US" sz="1800" spc="-1" strike="noStrike">
                <a:solidFill>
                  <a:srgbClr val="22c55e"/>
                </a:solidFill>
                <a:latin typeface="Courier New"/>
                <a:ea typeface="DejaVu Sans"/>
              </a:rPr>
              <a:t>SELECT * FROM usuarios WHERE nombre = ? </a:t>
            </a:r>
            <a:r>
              <a:rPr b="0" lang="en-US" sz="1500" spc="-1" strike="noStrike">
                <a:solidFill>
                  <a:srgbClr val="22c55e"/>
                </a:solidFill>
                <a:latin typeface="Courier New"/>
                <a:ea typeface="DejaVu Sans"/>
              </a:rPr>
              <a:t>(el interrogante hara que se trate como texto, nunca como una orden)</a:t>
            </a:r>
            <a:endParaRPr b="0" lang="es-ES" sz="1500" spc="-1" strike="noStrike">
              <a:latin typeface="Arial"/>
            </a:endParaRPr>
          </a:p>
          <a:p>
            <a:pPr>
              <a:lnSpc>
                <a:spcPct val="100000"/>
              </a:lnSpc>
            </a:pPr>
            <a:br/>
            <a:r>
              <a:rPr b="0" lang="en-US" sz="1800" spc="-1" strike="noStrike">
                <a:solidFill>
                  <a:srgbClr val="f8fafc"/>
                </a:solidFill>
                <a:latin typeface="Calibri"/>
                <a:ea typeface="DejaVu Sans"/>
              </a:rPr>
              <a:t>• </a:t>
            </a:r>
            <a:r>
              <a:rPr b="0" lang="en-US" sz="1800" spc="-1" strike="noStrike">
                <a:solidFill>
                  <a:srgbClr val="f8fafc"/>
                </a:solidFill>
                <a:latin typeface="Calibri"/>
                <a:ea typeface="DejaVu Sans"/>
              </a:rPr>
              <a:t>¿Qué es la Revisión por Pares (Peer Review)?: El programador que usó la IA no puede subir el código directamente. Un compañero de equipo con más experiencia debe abrir una sala de espera digital (Pull Request), leer la lógica, validar la alerta del SAST y autorizar manualmente el paso a producción.</a:t>
            </a:r>
            <a:endParaRPr b="0" lang="es-ES" sz="1800" spc="-1" strike="noStrike">
              <a:latin typeface="Arial"/>
            </a:endParaRPr>
          </a:p>
        </p:txBody>
      </p:sp>
      <p:pic>
        <p:nvPicPr>
          <p:cNvPr id="85" name="" descr=""/>
          <p:cNvPicPr/>
          <p:nvPr/>
        </p:nvPicPr>
        <p:blipFill>
          <a:blip r:embed="rId1"/>
          <a:stretch/>
        </p:blipFill>
        <p:spPr>
          <a:xfrm>
            <a:off x="7228800" y="4320000"/>
            <a:ext cx="4290840" cy="23400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86" name="CustomShape 1"/>
          <p:cNvSpPr/>
          <p:nvPr/>
        </p:nvSpPr>
        <p:spPr>
          <a:xfrm>
            <a:off x="685800" y="457200"/>
            <a:ext cx="10819080" cy="63828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38bdf8"/>
                </a:solidFill>
                <a:latin typeface="Arial"/>
                <a:ea typeface="DejaVu Sans"/>
              </a:rPr>
              <a:t>📚 </a:t>
            </a:r>
            <a:r>
              <a:rPr b="1" lang="en-US" sz="3600" spc="-1" strike="noStrike">
                <a:solidFill>
                  <a:srgbClr val="38bdf8"/>
                </a:solidFill>
                <a:latin typeface="Arial"/>
                <a:ea typeface="DejaVu Sans"/>
              </a:rPr>
              <a:t>Recursos, Enlaces de Interés y Herramientas</a:t>
            </a:r>
            <a:endParaRPr b="0" lang="es-ES" sz="3600" spc="-1" strike="noStrike">
              <a:latin typeface="Arial"/>
            </a:endParaRPr>
          </a:p>
        </p:txBody>
      </p:sp>
      <p:sp>
        <p:nvSpPr>
          <p:cNvPr id="87" name="CustomShape 2"/>
          <p:cNvSpPr/>
          <p:nvPr/>
        </p:nvSpPr>
        <p:spPr>
          <a:xfrm>
            <a:off x="700920" y="1828800"/>
            <a:ext cx="10819080" cy="203724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f8fafc"/>
                </a:solidFill>
                <a:latin typeface="Calibri"/>
                <a:ea typeface="DejaVu Sans"/>
              </a:rPr>
              <a:t>• </a:t>
            </a:r>
            <a:r>
              <a:rPr b="0" lang="en-US" sz="1600" spc="-1" strike="noStrike">
                <a:solidFill>
                  <a:srgbClr val="f8fafc"/>
                </a:solidFill>
                <a:latin typeface="Calibri"/>
                <a:ea typeface="DejaVu Sans"/>
              </a:rPr>
              <a:t>Caso de Estudio (Samsung Leak): https://www.techradar.com/news/samsung-workers-leaked-company-secrets-by-using-chatgpt</a:t>
            </a:r>
            <a:endParaRPr b="0" lang="es-ES" sz="1600" spc="-1" strike="noStrike">
              <a:latin typeface="Arial"/>
            </a:endParaRPr>
          </a:p>
          <a:p>
            <a:pPr>
              <a:lnSpc>
                <a:spcPct val="100000"/>
              </a:lnSpc>
            </a:pPr>
            <a:r>
              <a:rPr b="0" lang="en-US" sz="1600" spc="-1" strike="noStrike">
                <a:solidFill>
                  <a:srgbClr val="f8fafc"/>
                </a:solidFill>
                <a:latin typeface="Calibri"/>
                <a:ea typeface="DejaVu Sans"/>
              </a:rPr>
              <a:t>• </a:t>
            </a:r>
            <a:r>
              <a:rPr b="0" lang="en-US" sz="1600" spc="-1" strike="noStrike">
                <a:solidFill>
                  <a:srgbClr val="f8fafc"/>
                </a:solidFill>
                <a:latin typeface="Calibri"/>
                <a:ea typeface="DejaVu Sans"/>
              </a:rPr>
              <a:t>Guías de Ciberseguridad de la NSA / CISA: https://www.cyber.gov.au/guidance-for-larger-business-and-government</a:t>
            </a:r>
            <a:endParaRPr b="0" lang="es-ES" sz="1600" spc="-1" strike="noStrike">
              <a:latin typeface="Arial"/>
            </a:endParaRPr>
          </a:p>
          <a:p>
            <a:pPr>
              <a:lnSpc>
                <a:spcPct val="100000"/>
              </a:lnSpc>
            </a:pPr>
            <a:r>
              <a:rPr b="0" lang="en-US" sz="1600" spc="-1" strike="noStrike">
                <a:solidFill>
                  <a:srgbClr val="f8fafc"/>
                </a:solidFill>
                <a:latin typeface="Calibri"/>
                <a:ea typeface="DejaVu Sans"/>
              </a:rPr>
              <a:t>• </a:t>
            </a:r>
            <a:r>
              <a:rPr b="0" lang="en-US" sz="1600" spc="-1" strike="noStrike">
                <a:solidFill>
                  <a:srgbClr val="f8fafc"/>
                </a:solidFill>
                <a:latin typeface="Calibri"/>
                <a:ea typeface="DejaVu Sans"/>
              </a:rPr>
              <a:t>Privacidad Médica e IA: https://pmc.ncbi.nlm.nih.gov/articles/PMC12957209/</a:t>
            </a:r>
            <a:endParaRPr b="0" lang="es-ES" sz="1600" spc="-1" strike="noStrike">
              <a:latin typeface="Arial"/>
            </a:endParaRPr>
          </a:p>
          <a:p>
            <a:pPr>
              <a:lnSpc>
                <a:spcPct val="100000"/>
              </a:lnSpc>
            </a:pPr>
            <a:r>
              <a:rPr b="0" lang="en-US" sz="1600" spc="-1" strike="noStrike">
                <a:solidFill>
                  <a:srgbClr val="f8fafc"/>
                </a:solidFill>
                <a:latin typeface="Calibri"/>
                <a:ea typeface="DejaVu Sans"/>
              </a:rPr>
              <a:t>• </a:t>
            </a:r>
            <a:r>
              <a:rPr b="0" lang="en-US" sz="1600" spc="-1" strike="noStrike">
                <a:solidFill>
                  <a:srgbClr val="f8fafc"/>
                </a:solidFill>
                <a:latin typeface="Calibri"/>
                <a:ea typeface="DejaVu Sans"/>
              </a:rPr>
              <a:t>Herramienta de Anonimización de Microsoft (Presidio): https://github.com/data-privacy-stack/presidio</a:t>
            </a:r>
            <a:endParaRPr b="0" lang="es-ES" sz="1600" spc="-1" strike="noStrike">
              <a:latin typeface="Arial"/>
            </a:endParaRPr>
          </a:p>
          <a:p>
            <a:pPr>
              <a:lnSpc>
                <a:spcPct val="100000"/>
              </a:lnSpc>
            </a:pPr>
            <a:r>
              <a:rPr b="0" lang="en-US" sz="1600" spc="-1" strike="noStrike">
                <a:solidFill>
                  <a:srgbClr val="f8fafc"/>
                </a:solidFill>
                <a:latin typeface="Calibri"/>
                <a:ea typeface="DejaVu Sans"/>
              </a:rPr>
              <a:t>• </a:t>
            </a:r>
            <a:r>
              <a:rPr b="0" lang="en-US" sz="1600" spc="-1" strike="noStrike">
                <a:solidFill>
                  <a:srgbClr val="f8fafc"/>
                </a:solidFill>
                <a:latin typeface="Calibri"/>
                <a:ea typeface="DejaVu Sans"/>
              </a:rPr>
              <a:t>Software Offline de Anonimización Avanzada (ARX): https://arx.deidentifier.org/downloads/</a:t>
            </a:r>
            <a:endParaRPr b="0" lang="es-ES" sz="1600" spc="-1" strike="noStrike">
              <a:latin typeface="Arial"/>
            </a:endParaRPr>
          </a:p>
          <a:p>
            <a:pPr>
              <a:lnSpc>
                <a:spcPct val="100000"/>
              </a:lnSpc>
            </a:pPr>
            <a:r>
              <a:rPr b="0" lang="en-US" sz="1600" spc="-1" strike="noStrike">
                <a:solidFill>
                  <a:srgbClr val="f8fafc"/>
                </a:solidFill>
                <a:latin typeface="Calibri"/>
                <a:ea typeface="DejaVu Sans"/>
              </a:rPr>
              <a:t>• </a:t>
            </a:r>
            <a:r>
              <a:rPr b="0" lang="en-US" sz="1600" spc="-1" strike="noStrike">
                <a:solidFill>
                  <a:srgbClr val="f8fafc"/>
                </a:solidFill>
                <a:latin typeface="Calibri"/>
                <a:ea typeface="DejaVu Sans"/>
              </a:rPr>
              <a:t>Plataforma de Auditoría Estática (SAST): https://www.sonarqube.org/</a:t>
            </a:r>
            <a:endParaRPr b="0" lang="es-ES" sz="1600" spc="-1" strike="noStrike">
              <a:latin typeface="Arial"/>
            </a:endParaRPr>
          </a:p>
          <a:p>
            <a:pPr>
              <a:lnSpc>
                <a:spcPct val="100000"/>
              </a:lnSpc>
            </a:pPr>
            <a:r>
              <a:rPr b="0" lang="en-US" sz="1600" spc="-1" strike="noStrike">
                <a:solidFill>
                  <a:srgbClr val="f8fafc"/>
                </a:solidFill>
                <a:latin typeface="Calibri"/>
                <a:ea typeface="DejaVu Sans"/>
              </a:rPr>
              <a:t>• </a:t>
            </a:r>
            <a:r>
              <a:rPr b="0" lang="en-US" sz="1600" spc="-1" strike="noStrike">
                <a:solidFill>
                  <a:srgbClr val="f8fafc"/>
                </a:solidFill>
                <a:latin typeface="Calibri"/>
                <a:ea typeface="DejaVu Sans"/>
              </a:rPr>
              <a:t>Escáner de Dependencias y Librerías (SCA): https://snyk.io/</a:t>
            </a:r>
            <a:endParaRPr b="0" lang="es-ES" sz="16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88" name="CustomShape 1"/>
          <p:cNvSpPr/>
          <p:nvPr/>
        </p:nvSpPr>
        <p:spPr>
          <a:xfrm>
            <a:off x="685800" y="1371600"/>
            <a:ext cx="10819080" cy="69912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38bdf8"/>
                </a:solidFill>
                <a:latin typeface="Arial"/>
                <a:ea typeface="DejaVu Sans"/>
              </a:rPr>
              <a:t>🎮 </a:t>
            </a:r>
            <a:r>
              <a:rPr b="1" lang="en-US" sz="4000" spc="-1" strike="noStrike">
                <a:solidFill>
                  <a:srgbClr val="38bdf8"/>
                </a:solidFill>
                <a:latin typeface="Arial"/>
                <a:ea typeface="DejaVu Sans"/>
              </a:rPr>
              <a:t>¡Momento del Kahoot Final!</a:t>
            </a:r>
            <a:endParaRPr b="0" lang="es-ES" sz="4000" spc="-1" strike="noStrike">
              <a:latin typeface="Arial"/>
            </a:endParaRPr>
          </a:p>
        </p:txBody>
      </p:sp>
      <p:sp>
        <p:nvSpPr>
          <p:cNvPr id="89" name="CustomShape 2"/>
          <p:cNvSpPr/>
          <p:nvPr/>
        </p:nvSpPr>
        <p:spPr>
          <a:xfrm>
            <a:off x="685800" y="2560320"/>
            <a:ext cx="10819080" cy="298584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38bdf8"/>
                </a:solidFill>
                <a:latin typeface="Courier New"/>
                <a:ea typeface="DejaVu Sans"/>
              </a:rPr>
              <a:t>       ┌────────────────────────────────────────────────────────┐</a:t>
            </a:r>
            <a:br/>
            <a:r>
              <a:rPr b="0" lang="en-US" sz="1800" spc="-1" strike="noStrike">
                <a:solidFill>
                  <a:srgbClr val="38bdf8"/>
                </a:solidFill>
                <a:latin typeface="Courier New"/>
                <a:ea typeface="DejaVu Sans"/>
              </a:rPr>
              <a:t>       │                 </a:t>
            </a:r>
            <a:r>
              <a:rPr b="0" lang="en-US" sz="1800" spc="-1" strike="noStrike">
                <a:solidFill>
                  <a:srgbClr val="38bdf8"/>
                </a:solidFill>
                <a:latin typeface="Courier New"/>
                <a:ea typeface="DejaVu Sans"/>
              </a:rPr>
              <a:t>k a h o o t . i t                      │</a:t>
            </a:r>
            <a:br/>
            <a:r>
              <a:rPr b="0" lang="en-US" sz="1800" spc="-1" strike="noStrike">
                <a:solidFill>
                  <a:srgbClr val="38bdf8"/>
                </a:solidFill>
                <a:latin typeface="Courier New"/>
                <a:ea typeface="DejaVu Sans"/>
              </a:rPr>
              <a:t>       │   📱 [ Escanea el código QR ]  ➔  [ Introduce el PIN ] │</a:t>
            </a:r>
            <a:br/>
            <a:r>
              <a:rPr b="0" lang="en-US" sz="1800" spc="-1" strike="noStrike">
                <a:solidFill>
                  <a:srgbClr val="38bdf8"/>
                </a:solidFill>
                <a:latin typeface="Courier New"/>
                <a:ea typeface="DejaVu Sans"/>
              </a:rPr>
              <a:t>       └────────────────────────────────────────────────────────┘</a:t>
            </a:r>
            <a:endParaRPr b="0" lang="es-ES" sz="1800" spc="-1" strike="noStrike">
              <a:latin typeface="Arial"/>
            </a:endParaRPr>
          </a:p>
          <a:p>
            <a:pPr>
              <a:lnSpc>
                <a:spcPct val="100000"/>
              </a:lnSpc>
            </a:pPr>
            <a:br/>
            <a:r>
              <a:rPr b="0" lang="en-US" sz="2000" spc="-1" strike="noStrike">
                <a:solidFill>
                  <a:srgbClr val="f8fafc"/>
                </a:solidFill>
                <a:latin typeface="Calibri"/>
                <a:ea typeface="DejaVu Sans"/>
              </a:rPr>
              <a:t>• </a:t>
            </a:r>
            <a:r>
              <a:rPr b="0" lang="en-US" sz="2000" spc="-1" strike="noStrike">
                <a:solidFill>
                  <a:srgbClr val="f8fafc"/>
                </a:solidFill>
                <a:latin typeface="Calibri"/>
                <a:ea typeface="DejaVu Sans"/>
              </a:rPr>
              <a:t>Saquen sus teléfonos móviles.</a:t>
            </a:r>
            <a:br/>
            <a:r>
              <a:rPr b="0" lang="en-US" sz="2000" spc="-1" strike="noStrike">
                <a:solidFill>
                  <a:srgbClr val="f8fafc"/>
                </a:solidFill>
                <a:latin typeface="Calibri"/>
                <a:ea typeface="DejaVu Sans"/>
              </a:rPr>
              <a:t>• Entren a kahoot.it o usen el lector de códigos QR.</a:t>
            </a:r>
            <a:br/>
            <a:r>
              <a:rPr b="0" lang="en-US" sz="2000" spc="-1" strike="noStrike">
                <a:solidFill>
                  <a:srgbClr val="f8fafc"/>
                </a:solidFill>
                <a:latin typeface="Calibri"/>
                <a:ea typeface="DejaVu Sans"/>
              </a:rPr>
              <a:t>• Introduzcan el código PIN que se proyectará a continuación.</a:t>
            </a:r>
            <a:endParaRPr b="0" lang="es-ES" sz="2000" spc="-1" strike="noStrike">
              <a:latin typeface="Arial"/>
            </a:endParaRPr>
          </a:p>
          <a:p>
            <a:pPr>
              <a:lnSpc>
                <a:spcPct val="100000"/>
              </a:lnSpc>
            </a:pPr>
            <a:br/>
            <a:r>
              <a:rPr b="1" lang="en-US" sz="2200" spc="-1" strike="noStrike">
                <a:solidFill>
                  <a:srgbClr val="fbbf24"/>
                </a:solidFill>
                <a:latin typeface="Calibri"/>
                <a:ea typeface="DejaVu Sans"/>
              </a:rPr>
              <a:t>¿Están listos para poner a prueba su criterio de seguridad?</a:t>
            </a:r>
            <a:endParaRPr b="0" lang="es-ES" sz="22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302</TotalTime>
  <Application>LibreOffice/7.0.0.3$Windows_X86_64 LibreOffice_project/8061b3e9204bef6b321a21033174034a5e2ea88e</Applicat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es-ES</dc:language>
  <cp:lastModifiedBy/>
  <cp:lastPrinted>2026-10-15T07:27:10Z</cp:lastPrinted>
  <dcterms:modified xsi:type="dcterms:W3CDTF">2026-10-15T10:42:09Z</dcterms:modified>
  <cp:revision>11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0</vt:bool>
  </property>
  <property fmtid="{D5CDD505-2E9C-101B-9397-08002B2CF9AE}" pid="10" name="ShareDoc">
    <vt:bool>0</vt:bool>
  </property>
  <property fmtid="{D5CDD505-2E9C-101B-9397-08002B2CF9AE}" pid="11" name="Slides">
    <vt:i4>0</vt:i4>
  </property>
</Properties>
</file>